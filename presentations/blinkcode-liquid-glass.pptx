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Вступление" id="{e8b43c83-aea9-8d7f-4f6b-1a3ca11293fd}">
          <p14:sldIdLst>
            <p14:sldId id="256"/>
          </p14:sldIdLst>
        </p14:section>
        <p14:section name="Проблема и решение" id="{4206c713-9a4d-2227-bc01-252b4f1992b8}">
          <p14:sldIdLst>
            <p14:sldId id="257"/>
            <p14:sldId id="258"/>
            <p14:sldId id="259"/>
          </p14:sldIdLst>
        </p14:section>
        <p14:section name="Продукт" id="{65876241-b176-2799-73aa-542e968d6b6a}">
          <p14:sldIdLst>
            <p14:sldId id="260"/>
            <p14:sldId id="261"/>
          </p14:sldIdLst>
        </p14:section>
        <p14:section name="Управление проектом" id="{0ec90ac3-b126-5081-d674-acce2e2af5ff}">
          <p14:sldIdLst>
            <p14:sldId id="262"/>
            <p14:sldId id="263"/>
            <p14:sldId id="264"/>
          </p14:sldIdLst>
        </p14:section>
        <p14:section name="Отличия и риски" id="{2da68e44-995f-7a70-9f69-92e1c2066b71}">
          <p14:sldIdLst>
            <p14:sldId id="265"/>
            <p14:sldId id="266"/>
          </p14:sldIdLst>
        </p14:section>
        <p14:section name="Финал" id="{7aaf91f0-3a46-dd13-484f-8ccbd9e8c765}">
          <p14:sldIdLst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600" b="0" i="0" u="none" strike="noStrike">
                <a:solidFill>
                  <a:srgbClr val="D3DAF5"/>
                </a:solidFill>
                <a:latin typeface="+mn-lt"/>
              </a:defRPr>
            </a:pPr>
            <a:r>
              <a:rPr sz="1600" b="0" i="0" u="none" strike="noStrike">
                <a:solidFill>
                  <a:srgbClr val="D3DAF5"/>
                </a:solidFill>
                <a:latin typeface="+mn-lt"/>
              </a:rPr>
              <a:t>Оценка RICE по фичам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RICE</c:v>
                </c:pt>
              </c:strCache>
            </c:strRef>
          </c:tx>
          <c:spPr>
            <a:solidFill>
              <a:srgbClr val="5EEAD4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FFFFFF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Дом / работа</c:v>
                  </c:pt>
                  <c:pt idx="1">
                    <c:v>Умные сборы</c:v>
                  </c:pt>
                  <c:pt idx="2">
                    <c:v>Маршрут до друга</c:v>
                  </c:pt>
                  <c:pt idx="3">
                    <c:v>SOS</c:v>
                  </c:pt>
                  <c:pt idx="4">
                    <c:v>Стикеры</c:v>
                  </c:pt>
                  <c:pt idx="5">
                    <c:v>Виджет</c:v>
                  </c:pt>
                  <c:pt idx="6">
                    <c:v>Районы</c:v>
                  </c:pt>
                  <c:pt idx="7">
                    <c:v>Челленджи</c:v>
                  </c:pt>
                  <c:pt idx="8">
                    <c:v>Рация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3.6</c:v>
                </c:pt>
                <c:pt idx="1">
                  <c:v>2.95</c:v>
                </c:pt>
                <c:pt idx="2">
                  <c:v>2.49</c:v>
                </c:pt>
                <c:pt idx="3">
                  <c:v>1.53</c:v>
                </c:pt>
                <c:pt idx="4">
                  <c:v>1.2</c:v>
                </c:pt>
                <c:pt idx="5">
                  <c:v>1.17</c:v>
                </c:pt>
                <c:pt idx="6">
                  <c:v>0.86</c:v>
                </c:pt>
                <c:pt idx="7">
                  <c:v>0.44</c:v>
                </c:pt>
                <c:pt idx="8">
                  <c:v>0.26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1" i="0" strike="noStrike" sz="1300" u="none">
                  <a:solidFill>
                    <a:srgbClr val="FFFFFF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FFFFFF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lass Title">
    <p:bg>
      <p:bgPr>
        <a:solidFill>
          <a:srgbClr val="0B10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lass Content">
    <p:bg>
      <p:bgPr>
        <a:solidFill>
          <a:srgbClr val="0B10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3550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bg2"/>
                </a:solidFill>
              </a:rPr>
              <a:t>blinkcode</a:t>
            </a:r>
            <a:endParaRPr lang="en-US" sz="11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640080" y="868680"/>
            <a:ext cx="1088136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D3DAF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D3DAF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jpe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jpe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jpe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jpe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jpe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jpe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1" Type="http://schemas.openxmlformats.org/officeDocument/2006/relationships/image" Target="../media/Slide-9-image-1.jpe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jpe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jpe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417320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Проектный менеджмент</a:t>
            </a:r>
            <a:endParaRPr lang="en-US" sz="1500" dirty="0"/>
          </a:p>
        </p:txBody>
      </p:sp>
      <p:sp>
        <p:nvSpPr>
          <p:cNvPr id="3" name="deck title"/>
          <p:cNvSpPr txBox="1"/>
          <p:nvPr/>
        </p:nvSpPr>
        <p:spPr>
          <a:xfrm>
            <a:off x="822960" y="2057400"/>
            <a:ext cx="6949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0" b="1" dirty="0">
                <a:solidFill>
                  <a:schemeClr val="bg1"/>
                </a:solidFill>
              </a:rPr>
              <a:t>blinkcode</a:t>
            </a:r>
            <a:endParaRPr lang="en-US" sz="88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474720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2"/>
                </a:solidFill>
              </a:rPr>
              <a:t>Социальное гео-приложение для друзей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416052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Не просто видеть друзей на карте — а встречаться, исследовать город и приглядывать друг за другом</a:t>
            </a:r>
            <a:endParaRPr lang="en-US" sz="1800" dirty="0"/>
          </a:p>
        </p:txBody>
      </p:sp>
      <p:sp>
        <p:nvSpPr>
          <p:cNvPr id="6" name="route"/>
          <p:cNvSpPr/>
          <p:nvPr/>
        </p:nvSpPr>
        <p:spPr>
          <a:xfrm>
            <a:off x="9326880" y="3611880"/>
            <a:ext cx="914400" cy="594360"/>
          </a:xfrm>
          <a:prstGeom prst="line">
            <a:avLst/>
          </a:prstGeom>
          <a:noFill/>
          <a:ln w="31750">
            <a:solidFill>
              <a:schemeClr val="bg1"/>
            </a:solidFill>
            <a:prstDash val="dash"/>
          </a:ln>
        </p:spPr>
      </p:sp>
      <p:sp>
        <p:nvSpPr>
          <p:cNvPr id="7" name="pin glow А"/>
          <p:cNvSpPr/>
          <p:nvPr/>
        </p:nvSpPr>
        <p:spPr>
          <a:xfrm>
            <a:off x="8641080" y="1371600"/>
            <a:ext cx="685800" cy="685800"/>
          </a:xfrm>
          <a:prstGeom prst="ellipse">
            <a:avLst/>
          </a:prstGeom>
          <a:solidFill>
            <a:schemeClr val="accent3">
              <a:alpha val="30000"/>
            </a:schemeClr>
          </a:solidFill>
          <a:ln/>
        </p:spPr>
      </p:sp>
      <p:sp>
        <p:nvSpPr>
          <p:cNvPr id="8" name="friend А"/>
          <p:cNvSpPr/>
          <p:nvPr/>
        </p:nvSpPr>
        <p:spPr>
          <a:xfrm>
            <a:off x="8732520" y="1463040"/>
            <a:ext cx="502920" cy="502920"/>
          </a:xfrm>
          <a:prstGeom prst="ellipse">
            <a:avLst/>
          </a:prstGeom>
          <a:solidFill>
            <a:schemeClr val="accent3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732520" y="1463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А</a:t>
            </a:r>
            <a:endParaRPr lang="en-US" sz="1600" dirty="0"/>
          </a:p>
        </p:txBody>
      </p:sp>
      <p:sp>
        <p:nvSpPr>
          <p:cNvPr id="10" name="pin glow М"/>
          <p:cNvSpPr/>
          <p:nvPr/>
        </p:nvSpPr>
        <p:spPr>
          <a:xfrm>
            <a:off x="10058400" y="1920240"/>
            <a:ext cx="685800" cy="685800"/>
          </a:xfrm>
          <a:prstGeom prst="ellipse">
            <a:avLst/>
          </a:prstGeom>
          <a:solidFill>
            <a:schemeClr val="accent2">
              <a:alpha val="30000"/>
            </a:schemeClr>
          </a:solidFill>
          <a:ln/>
        </p:spPr>
      </p:sp>
      <p:sp>
        <p:nvSpPr>
          <p:cNvPr id="11" name="friend М"/>
          <p:cNvSpPr/>
          <p:nvPr/>
        </p:nvSpPr>
        <p:spPr>
          <a:xfrm>
            <a:off x="10149840" y="2011680"/>
            <a:ext cx="502920" cy="502920"/>
          </a:xfrm>
          <a:prstGeom prst="ellipse">
            <a:avLst/>
          </a:prstGeom>
          <a:solidFill>
            <a:schemeClr val="accent2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0149840" y="2011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М</a:t>
            </a:r>
            <a:endParaRPr lang="en-US" sz="1600" dirty="0"/>
          </a:p>
        </p:txBody>
      </p:sp>
      <p:sp>
        <p:nvSpPr>
          <p:cNvPr id="13" name="pin glow Д"/>
          <p:cNvSpPr/>
          <p:nvPr/>
        </p:nvSpPr>
        <p:spPr>
          <a:xfrm>
            <a:off x="8961120" y="3200400"/>
            <a:ext cx="685800" cy="685800"/>
          </a:xfrm>
          <a:prstGeom prst="ellipse">
            <a:avLst/>
          </a:prstGeom>
          <a:solidFill>
            <a:schemeClr val="accent4">
              <a:alpha val="30000"/>
            </a:schemeClr>
          </a:solidFill>
          <a:ln/>
        </p:spPr>
      </p:sp>
      <p:sp>
        <p:nvSpPr>
          <p:cNvPr id="14" name="friend Д"/>
          <p:cNvSpPr/>
          <p:nvPr/>
        </p:nvSpPr>
        <p:spPr>
          <a:xfrm>
            <a:off x="9052560" y="3291840"/>
            <a:ext cx="502920" cy="502920"/>
          </a:xfrm>
          <a:prstGeom prst="ellipse">
            <a:avLst/>
          </a:prstGeom>
          <a:solidFill>
            <a:schemeClr val="accent4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052560" y="3291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Д</a:t>
            </a:r>
            <a:endParaRPr lang="en-US" sz="1600" dirty="0"/>
          </a:p>
        </p:txBody>
      </p:sp>
      <p:sp>
        <p:nvSpPr>
          <p:cNvPr id="16" name="pin glow Я"/>
          <p:cNvSpPr/>
          <p:nvPr/>
        </p:nvSpPr>
        <p:spPr>
          <a:xfrm>
            <a:off x="9921240" y="3886200"/>
            <a:ext cx="685800" cy="685800"/>
          </a:xfrm>
          <a:prstGeom prst="ellipse">
            <a:avLst/>
          </a:prstGeom>
          <a:solidFill>
            <a:schemeClr val="accent1">
              <a:alpha val="30000"/>
            </a:schemeClr>
          </a:solidFill>
          <a:ln/>
        </p:spPr>
      </p:sp>
      <p:sp>
        <p:nvSpPr>
          <p:cNvPr id="17" name="friend Я"/>
          <p:cNvSpPr/>
          <p:nvPr/>
        </p:nvSpPr>
        <p:spPr>
          <a:xfrm>
            <a:off x="10012680" y="3977640"/>
            <a:ext cx="502920" cy="502920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0012680" y="3977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Я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8412480" y="5001768"/>
            <a:ext cx="224028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Сбор в 20:00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3 из 4 уже на месте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640080" y="411480"/>
            <a:ext cx="15407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01 · Проблема</a:t>
            </a:r>
            <a:endParaRPr lang="en-US" sz="14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640080" y="86868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Карты друзей отвечают лишь на «где ты?»</a:t>
            </a:r>
            <a:endParaRPr lang="en-US" sz="3400" dirty="0"/>
          </a:p>
        </p:txBody>
      </p:sp>
      <p:sp>
        <p:nvSpPr>
          <p:cNvPr id="4" name="icon circle 1"/>
          <p:cNvSpPr/>
          <p:nvPr/>
        </p:nvSpPr>
        <p:spPr>
          <a:xfrm>
            <a:off x="1005840" y="2377440"/>
            <a:ext cx="822960" cy="82296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bg1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7008" y="2578608"/>
            <a:ext cx="420624" cy="42062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005840" y="3429000"/>
            <a:ext cx="2697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Встретиться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1005840" y="4251960"/>
            <a:ext cx="2697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Договориться о точке и времени, понять, кто опаздывает, дойти до друга, который сам движется.</a:t>
            </a:r>
            <a:endParaRPr lang="en-US" sz="1600" dirty="0"/>
          </a:p>
        </p:txBody>
      </p:sp>
      <p:sp>
        <p:nvSpPr>
          <p:cNvPr id="8" name="icon circle 2"/>
          <p:cNvSpPr/>
          <p:nvPr/>
        </p:nvSpPr>
        <p:spPr>
          <a:xfrm>
            <a:off x="4709160" y="2377440"/>
            <a:ext cx="822960" cy="822960"/>
          </a:xfrm>
          <a:prstGeom prst="ellipse">
            <a:avLst/>
          </a:prstGeom>
          <a:solidFill>
            <a:schemeClr val="accent2"/>
          </a:solidFill>
          <a:ln w="19050">
            <a:solidFill>
              <a:schemeClr val="bg1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10328" y="2578608"/>
            <a:ext cx="420624" cy="420624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4709160" y="3429000"/>
            <a:ext cx="2697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Делать что-то вместе</a:t>
            </a:r>
            <a:endParaRPr lang="en-US" sz="2200" dirty="0"/>
          </a:p>
        </p:txBody>
      </p:sp>
      <p:sp>
        <p:nvSpPr>
          <p:cNvPr id="11" name="Text 7"/>
          <p:cNvSpPr txBox="1"/>
          <p:nvPr/>
        </p:nvSpPr>
        <p:spPr>
          <a:xfrm>
            <a:off x="4709160" y="4251960"/>
            <a:ext cx="2697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Карта друзей статична: посмотрел и закрыл. Нет причины открывать приложение каждый день.</a:t>
            </a:r>
            <a:endParaRPr lang="en-US" sz="1600" dirty="0"/>
          </a:p>
        </p:txBody>
      </p:sp>
      <p:sp>
        <p:nvSpPr>
          <p:cNvPr id="12" name="icon circle 3"/>
          <p:cNvSpPr/>
          <p:nvPr/>
        </p:nvSpPr>
        <p:spPr>
          <a:xfrm>
            <a:off x="8412480" y="2377440"/>
            <a:ext cx="822960" cy="822960"/>
          </a:xfrm>
          <a:prstGeom prst="ellipse">
            <a:avLst/>
          </a:prstGeom>
          <a:solidFill>
            <a:schemeClr val="accent3"/>
          </a:solidFill>
          <a:ln w="19050">
            <a:solidFill>
              <a:schemeClr val="bg1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13648" y="2578608"/>
            <a:ext cx="420624" cy="420624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8412480" y="3429000"/>
            <a:ext cx="2697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Быть в безопасности</a:t>
            </a:r>
            <a:endParaRPr lang="en-US" sz="2200" dirty="0"/>
          </a:p>
        </p:txBody>
      </p:sp>
      <p:sp>
        <p:nvSpPr>
          <p:cNvPr id="15" name="Text 10"/>
          <p:cNvSpPr txBox="1"/>
          <p:nvPr/>
        </p:nvSpPr>
        <p:spPr>
          <a:xfrm>
            <a:off x="8412480" y="4251960"/>
            <a:ext cx="2697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Шаринг геолокации есть, но в стрессовой ситуации им неудобно пользоваться.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D3DAF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640080" y="411480"/>
            <a:ext cx="14447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02 · Решение</a:t>
            </a:r>
            <a:endParaRPr lang="en-US" sz="14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640080" y="86868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Карта друзей + три слоя поверх неё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057400"/>
            <a:ext cx="32918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Фундамент — друзья и live-геолокация на карте. Поверх — три слоя, каждый закрывает свою боль.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420624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2"/>
                </a:solidFill>
              </a:rPr>
              <a:t>9 фич</a:t>
            </a:r>
            <a:endParaRPr lang="en-US" sz="48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49834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в трёх слоях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4526280" y="214884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Встречи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4526280" y="257860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Собраться без переписки «ты где?»</a:t>
            </a:r>
            <a:endParaRPr lang="en-US" sz="1300" dirty="0"/>
          </a:p>
        </p:txBody>
      </p:sp>
      <p:sp>
        <p:nvSpPr>
          <p:cNvPr id="9" name="feature chip 1.1"/>
          <p:cNvSpPr/>
          <p:nvPr/>
        </p:nvSpPr>
        <p:spPr>
          <a:xfrm>
            <a:off x="6995160" y="2267712"/>
            <a:ext cx="1371600" cy="640080"/>
          </a:xfrm>
          <a:prstGeom prst="roundRect">
            <a:avLst>
              <a:gd name="adj" fmla="val 25714"/>
            </a:avLst>
          </a:prstGeom>
          <a:solidFill>
            <a:schemeClr val="bg1">
              <a:alpha val="14000"/>
            </a:schemeClr>
          </a:solidFill>
          <a:ln w="9525">
            <a:solidFill>
              <a:schemeClr val="bg1">
                <a:alpha val="50000"/>
              </a:schemeClr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068312" y="2267712"/>
            <a:ext cx="12252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Маршрут до друга</a:t>
            </a:r>
            <a:endParaRPr lang="en-US" sz="1300" dirty="0"/>
          </a:p>
        </p:txBody>
      </p:sp>
      <p:sp>
        <p:nvSpPr>
          <p:cNvPr id="11" name="feature chip 1.2"/>
          <p:cNvSpPr/>
          <p:nvPr/>
        </p:nvSpPr>
        <p:spPr>
          <a:xfrm>
            <a:off x="8458200" y="2267712"/>
            <a:ext cx="1371600" cy="640080"/>
          </a:xfrm>
          <a:prstGeom prst="roundRect">
            <a:avLst>
              <a:gd name="adj" fmla="val 25714"/>
            </a:avLst>
          </a:prstGeom>
          <a:solidFill>
            <a:schemeClr val="bg1">
              <a:alpha val="14000"/>
            </a:schemeClr>
          </a:solidFill>
          <a:ln w="9525">
            <a:solidFill>
              <a:schemeClr val="bg1">
                <a:alpha val="50000"/>
              </a:schemeClr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531352" y="2267712"/>
            <a:ext cx="12252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Умные сборы</a:t>
            </a:r>
            <a:endParaRPr lang="en-US" sz="1300" dirty="0"/>
          </a:p>
        </p:txBody>
      </p:sp>
      <p:sp>
        <p:nvSpPr>
          <p:cNvPr id="13" name="feature chip 1.3"/>
          <p:cNvSpPr/>
          <p:nvPr/>
        </p:nvSpPr>
        <p:spPr>
          <a:xfrm>
            <a:off x="9921240" y="2267712"/>
            <a:ext cx="1371600" cy="640080"/>
          </a:xfrm>
          <a:prstGeom prst="roundRect">
            <a:avLst>
              <a:gd name="adj" fmla="val 25714"/>
            </a:avLst>
          </a:prstGeom>
          <a:solidFill>
            <a:schemeClr val="bg1">
              <a:alpha val="14000"/>
            </a:schemeClr>
          </a:solidFill>
          <a:ln w="9525">
            <a:solidFill>
              <a:schemeClr val="bg1">
                <a:alpha val="50000"/>
              </a:schemeClr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994392" y="2267712"/>
            <a:ext cx="12252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Режим рации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4526280" y="347472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2"/>
                </a:solidFill>
              </a:rPr>
              <a:t>Город как игра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4526280" y="390448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Ежедневная причина открыть приложение</a:t>
            </a:r>
            <a:endParaRPr lang="en-US" sz="1300" dirty="0"/>
          </a:p>
        </p:txBody>
      </p:sp>
      <p:sp>
        <p:nvSpPr>
          <p:cNvPr id="17" name="feature chip 2.1"/>
          <p:cNvSpPr/>
          <p:nvPr/>
        </p:nvSpPr>
        <p:spPr>
          <a:xfrm>
            <a:off x="6995160" y="3593592"/>
            <a:ext cx="1371600" cy="640080"/>
          </a:xfrm>
          <a:prstGeom prst="roundRect">
            <a:avLst>
              <a:gd name="adj" fmla="val 25714"/>
            </a:avLst>
          </a:prstGeom>
          <a:solidFill>
            <a:schemeClr val="bg1">
              <a:alpha val="14000"/>
            </a:schemeClr>
          </a:solidFill>
          <a:ln w="9525">
            <a:solidFill>
              <a:schemeClr val="bg1">
                <a:alpha val="50000"/>
              </a:schemeClr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068312" y="3593592"/>
            <a:ext cx="12252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Чекины и районы</a:t>
            </a:r>
            <a:endParaRPr lang="en-US" sz="1300" dirty="0"/>
          </a:p>
        </p:txBody>
      </p:sp>
      <p:sp>
        <p:nvSpPr>
          <p:cNvPr id="19" name="feature chip 2.2"/>
          <p:cNvSpPr/>
          <p:nvPr/>
        </p:nvSpPr>
        <p:spPr>
          <a:xfrm>
            <a:off x="8458200" y="3593592"/>
            <a:ext cx="1371600" cy="640080"/>
          </a:xfrm>
          <a:prstGeom prst="roundRect">
            <a:avLst>
              <a:gd name="adj" fmla="val 25714"/>
            </a:avLst>
          </a:prstGeom>
          <a:solidFill>
            <a:schemeClr val="bg1">
              <a:alpha val="14000"/>
            </a:schemeClr>
          </a:solidFill>
          <a:ln w="9525">
            <a:solidFill>
              <a:schemeClr val="bg1">
                <a:alpha val="50000"/>
              </a:schemeClr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531352" y="3593592"/>
            <a:ext cx="12252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Челленджи и блинкисы</a:t>
            </a:r>
            <a:endParaRPr lang="en-US" sz="1300" dirty="0"/>
          </a:p>
        </p:txBody>
      </p:sp>
      <p:sp>
        <p:nvSpPr>
          <p:cNvPr id="21" name="feature chip 2.3"/>
          <p:cNvSpPr/>
          <p:nvPr/>
        </p:nvSpPr>
        <p:spPr>
          <a:xfrm>
            <a:off x="9921240" y="3593592"/>
            <a:ext cx="1371600" cy="640080"/>
          </a:xfrm>
          <a:prstGeom prst="roundRect">
            <a:avLst>
              <a:gd name="adj" fmla="val 25714"/>
            </a:avLst>
          </a:prstGeom>
          <a:solidFill>
            <a:schemeClr val="bg1">
              <a:alpha val="14000"/>
            </a:schemeClr>
          </a:solidFill>
          <a:ln w="9525">
            <a:solidFill>
              <a:schemeClr val="bg1">
                <a:alpha val="50000"/>
              </a:schemeClr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9994392" y="3593592"/>
            <a:ext cx="12252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Стикеры на карте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4526280" y="48006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3"/>
                </a:solidFill>
              </a:rPr>
              <a:t>Безопасность</a:t>
            </a:r>
            <a:endParaRPr lang="en-US" sz="2000" dirty="0"/>
          </a:p>
        </p:txBody>
      </p:sp>
      <p:sp>
        <p:nvSpPr>
          <p:cNvPr id="24" name="Text 22"/>
          <p:cNvSpPr txBox="1"/>
          <p:nvPr/>
        </p:nvSpPr>
        <p:spPr>
          <a:xfrm>
            <a:off x="4526280" y="523036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Доверие и ценность без открытия приложения</a:t>
            </a:r>
            <a:endParaRPr lang="en-US" sz="1300" dirty="0"/>
          </a:p>
        </p:txBody>
      </p:sp>
      <p:sp>
        <p:nvSpPr>
          <p:cNvPr id="25" name="feature chip 3.1"/>
          <p:cNvSpPr/>
          <p:nvPr/>
        </p:nvSpPr>
        <p:spPr>
          <a:xfrm>
            <a:off x="6995160" y="4919472"/>
            <a:ext cx="1371600" cy="640080"/>
          </a:xfrm>
          <a:prstGeom prst="roundRect">
            <a:avLst>
              <a:gd name="adj" fmla="val 25714"/>
            </a:avLst>
          </a:prstGeom>
          <a:solidFill>
            <a:schemeClr val="bg1">
              <a:alpha val="14000"/>
            </a:schemeClr>
          </a:solidFill>
          <a:ln w="9525">
            <a:solidFill>
              <a:schemeClr val="bg1">
                <a:alpha val="50000"/>
              </a:schemeClr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068312" y="4919472"/>
            <a:ext cx="12252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SOS с live-трансляцией</a:t>
            </a:r>
            <a:endParaRPr lang="en-US" sz="1300" dirty="0"/>
          </a:p>
        </p:txBody>
      </p:sp>
      <p:sp>
        <p:nvSpPr>
          <p:cNvPr id="27" name="feature chip 3.2"/>
          <p:cNvSpPr/>
          <p:nvPr/>
        </p:nvSpPr>
        <p:spPr>
          <a:xfrm>
            <a:off x="8458200" y="4919472"/>
            <a:ext cx="1371600" cy="640080"/>
          </a:xfrm>
          <a:prstGeom prst="roundRect">
            <a:avLst>
              <a:gd name="adj" fmla="val 25714"/>
            </a:avLst>
          </a:prstGeom>
          <a:solidFill>
            <a:schemeClr val="bg1">
              <a:alpha val="14000"/>
            </a:schemeClr>
          </a:solidFill>
          <a:ln w="9525">
            <a:solidFill>
              <a:schemeClr val="bg1">
                <a:alpha val="50000"/>
              </a:schemeClr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8531352" y="4919472"/>
            <a:ext cx="12252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Виджет с друзьями</a:t>
            </a:r>
            <a:endParaRPr lang="en-US" sz="1300" dirty="0"/>
          </a:p>
        </p:txBody>
      </p:sp>
      <p:sp>
        <p:nvSpPr>
          <p:cNvPr id="29" name="feature chip 3.3"/>
          <p:cNvSpPr/>
          <p:nvPr/>
        </p:nvSpPr>
        <p:spPr>
          <a:xfrm>
            <a:off x="9921240" y="4919472"/>
            <a:ext cx="1371600" cy="640080"/>
          </a:xfrm>
          <a:prstGeom prst="roundRect">
            <a:avLst>
              <a:gd name="adj" fmla="val 25714"/>
            </a:avLst>
          </a:prstGeom>
          <a:solidFill>
            <a:schemeClr val="bg1">
              <a:alpha val="14000"/>
            </a:schemeClr>
          </a:solidFill>
          <a:ln w="9525">
            <a:solidFill>
              <a:schemeClr val="bg1">
                <a:alpha val="50000"/>
              </a:schemeClr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9994392" y="4919472"/>
            <a:ext cx="12252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Импорт мест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D3DAF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640080" y="411480"/>
            <a:ext cx="20208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Путь использования</a:t>
            </a:r>
            <a:endParaRPr lang="en-US" sz="14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640080" y="86868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Сценарий «Умный сбор»: от идеи до встречи</a:t>
            </a:r>
            <a:endParaRPr lang="en-US" sz="3400" dirty="0"/>
          </a:p>
        </p:txBody>
      </p:sp>
      <p:sp>
        <p:nvSpPr>
          <p:cNvPr id="4" name="flow link 1"/>
          <p:cNvSpPr/>
          <p:nvPr/>
        </p:nvSpPr>
        <p:spPr>
          <a:xfrm>
            <a:off x="1508760" y="2057400"/>
            <a:ext cx="2148840" cy="0"/>
          </a:xfrm>
          <a:prstGeom prst="line">
            <a:avLst/>
          </a:prstGeom>
          <a:noFill/>
          <a:ln w="19050">
            <a:solidFill>
              <a:schemeClr val="bg1">
                <a:alpha val="60000"/>
              </a:schemeClr>
            </a:solidFill>
            <a:prstDash val="dash"/>
          </a:ln>
        </p:spPr>
      </p:sp>
      <p:sp>
        <p:nvSpPr>
          <p:cNvPr id="5" name="badge 1"/>
          <p:cNvSpPr/>
          <p:nvPr/>
        </p:nvSpPr>
        <p:spPr>
          <a:xfrm>
            <a:off x="960120" y="1828800"/>
            <a:ext cx="457200" cy="45720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60120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1</a:t>
            </a:r>
            <a:endParaRPr lang="en-US" sz="1600" dirty="0"/>
          </a:p>
        </p:txBody>
      </p:sp>
      <p:sp>
        <p:nvSpPr>
          <p:cNvPr id="7" name="step icon 1"/>
          <p:cNvSpPr/>
          <p:nvPr/>
        </p:nvSpPr>
        <p:spPr>
          <a:xfrm>
            <a:off x="960120" y="2788920"/>
            <a:ext cx="731520" cy="731520"/>
          </a:xfrm>
          <a:prstGeom prst="ellipse">
            <a:avLst/>
          </a:prstGeom>
          <a:solidFill>
            <a:schemeClr val="bg1">
              <a:alpha val="18000"/>
            </a:schemeClr>
          </a:solidFill>
          <a:ln w="19050">
            <a:solidFill>
              <a:schemeClr val="accent1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2971800"/>
            <a:ext cx="365760" cy="36576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960120" y="370332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Создаёт сбор</a:t>
            </a:r>
            <a:endParaRPr lang="en-US" sz="2000" dirty="0"/>
          </a:p>
        </p:txBody>
      </p:sp>
      <p:sp>
        <p:nvSpPr>
          <p:cNvPr id="10" name="Text 7"/>
          <p:cNvSpPr txBox="1"/>
          <p:nvPr/>
        </p:nvSpPr>
        <p:spPr>
          <a:xfrm>
            <a:off x="960120" y="438912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Точка, время и друзья — за 10 секунд, не больше 3 шагов</a:t>
            </a:r>
            <a:endParaRPr lang="en-US" sz="1400" dirty="0"/>
          </a:p>
        </p:txBody>
      </p:sp>
      <p:sp>
        <p:nvSpPr>
          <p:cNvPr id="11" name="flow link 2"/>
          <p:cNvSpPr/>
          <p:nvPr/>
        </p:nvSpPr>
        <p:spPr>
          <a:xfrm>
            <a:off x="4297680" y="2057400"/>
            <a:ext cx="2148840" cy="0"/>
          </a:xfrm>
          <a:prstGeom prst="line">
            <a:avLst/>
          </a:prstGeom>
          <a:noFill/>
          <a:ln w="19050">
            <a:solidFill>
              <a:schemeClr val="bg1">
                <a:alpha val="60000"/>
              </a:schemeClr>
            </a:solidFill>
            <a:prstDash val="dash"/>
          </a:ln>
        </p:spPr>
      </p:sp>
      <p:sp>
        <p:nvSpPr>
          <p:cNvPr id="12" name="badge 2"/>
          <p:cNvSpPr/>
          <p:nvPr/>
        </p:nvSpPr>
        <p:spPr>
          <a:xfrm>
            <a:off x="3749040" y="1828800"/>
            <a:ext cx="457200" cy="457200"/>
          </a:xfrm>
          <a:prstGeom prst="ellipse">
            <a:avLst/>
          </a:prstGeom>
          <a:solidFill>
            <a:schemeClr val="accent2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3749040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2</a:t>
            </a:r>
            <a:endParaRPr lang="en-US" sz="1600" dirty="0"/>
          </a:p>
        </p:txBody>
      </p:sp>
      <p:sp>
        <p:nvSpPr>
          <p:cNvPr id="14" name="step icon 2"/>
          <p:cNvSpPr/>
          <p:nvPr/>
        </p:nvSpPr>
        <p:spPr>
          <a:xfrm>
            <a:off x="3749040" y="2788920"/>
            <a:ext cx="731520" cy="731520"/>
          </a:xfrm>
          <a:prstGeom prst="ellipse">
            <a:avLst/>
          </a:prstGeom>
          <a:solidFill>
            <a:schemeClr val="bg1">
              <a:alpha val="18000"/>
            </a:schemeClr>
          </a:solidFill>
          <a:ln w="19050">
            <a:solidFill>
              <a:schemeClr val="accent2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1920" y="2971800"/>
            <a:ext cx="365760" cy="365760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3749040" y="370332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Друзья отвечают</a:t>
            </a:r>
            <a:endParaRPr lang="en-US" sz="2000" dirty="0"/>
          </a:p>
        </p:txBody>
      </p:sp>
      <p:sp>
        <p:nvSpPr>
          <p:cNvPr id="17" name="Text 13"/>
          <p:cNvSpPr txBox="1"/>
          <p:nvPr/>
        </p:nvSpPr>
        <p:spPr>
          <a:xfrm>
            <a:off x="3749040" y="438912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Один тап «Иду», ETA считается сам по маршруту</a:t>
            </a:r>
            <a:endParaRPr lang="en-US" sz="1400" dirty="0"/>
          </a:p>
        </p:txBody>
      </p:sp>
      <p:sp>
        <p:nvSpPr>
          <p:cNvPr id="18" name="flow link 3"/>
          <p:cNvSpPr/>
          <p:nvPr/>
        </p:nvSpPr>
        <p:spPr>
          <a:xfrm>
            <a:off x="7086600" y="2057400"/>
            <a:ext cx="2148840" cy="0"/>
          </a:xfrm>
          <a:prstGeom prst="line">
            <a:avLst/>
          </a:prstGeom>
          <a:noFill/>
          <a:ln w="19050">
            <a:solidFill>
              <a:schemeClr val="bg1">
                <a:alpha val="60000"/>
              </a:schemeClr>
            </a:solidFill>
            <a:prstDash val="dash"/>
          </a:ln>
        </p:spPr>
      </p:sp>
      <p:sp>
        <p:nvSpPr>
          <p:cNvPr id="19" name="badge 3"/>
          <p:cNvSpPr/>
          <p:nvPr/>
        </p:nvSpPr>
        <p:spPr>
          <a:xfrm>
            <a:off x="6537960" y="1828800"/>
            <a:ext cx="457200" cy="457200"/>
          </a:xfrm>
          <a:prstGeom prst="ellipse">
            <a:avLst/>
          </a:prstGeom>
          <a:solidFill>
            <a:schemeClr val="accent3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6537960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3</a:t>
            </a:r>
            <a:endParaRPr lang="en-US" sz="1600" dirty="0"/>
          </a:p>
        </p:txBody>
      </p:sp>
      <p:sp>
        <p:nvSpPr>
          <p:cNvPr id="21" name="step icon 3"/>
          <p:cNvSpPr/>
          <p:nvPr/>
        </p:nvSpPr>
        <p:spPr>
          <a:xfrm>
            <a:off x="6537960" y="2788920"/>
            <a:ext cx="731520" cy="731520"/>
          </a:xfrm>
          <a:prstGeom prst="ellipse">
            <a:avLst/>
          </a:prstGeom>
          <a:solidFill>
            <a:schemeClr val="bg1">
              <a:alpha val="18000"/>
            </a:schemeClr>
          </a:solidFill>
          <a:ln w="19050">
            <a:solidFill>
              <a:schemeClr val="accent3"/>
            </a:solidFill>
            <a:prstDash val="solid"/>
          </a:ln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0840" y="2971800"/>
            <a:ext cx="365760" cy="365760"/>
          </a:xfrm>
          <a:prstGeom prst="rect">
            <a:avLst/>
          </a:prstGeom>
        </p:spPr>
      </p:pic>
      <p:sp>
        <p:nvSpPr>
          <p:cNvPr id="23" name="Text 18"/>
          <p:cNvSpPr txBox="1"/>
          <p:nvPr/>
        </p:nvSpPr>
        <p:spPr>
          <a:xfrm>
            <a:off x="6537960" y="370332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Идут к точке</a:t>
            </a:r>
            <a:endParaRPr lang="en-US" sz="2000" dirty="0"/>
          </a:p>
        </p:txBody>
      </p:sp>
      <p:sp>
        <p:nvSpPr>
          <p:cNvPr id="24" name="Text 19"/>
          <p:cNvSpPr txBox="1"/>
          <p:nvPr/>
        </p:nvSpPr>
        <p:spPr>
          <a:xfrm>
            <a:off x="6537960" y="438912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Live-маршрут до друга, статусы «В пути», «Опоздаю на 10 мин»</a:t>
            </a:r>
            <a:endParaRPr lang="en-US" sz="1400" dirty="0"/>
          </a:p>
        </p:txBody>
      </p:sp>
      <p:sp>
        <p:nvSpPr>
          <p:cNvPr id="25" name="badge 4"/>
          <p:cNvSpPr/>
          <p:nvPr/>
        </p:nvSpPr>
        <p:spPr>
          <a:xfrm>
            <a:off x="9326880" y="1828800"/>
            <a:ext cx="457200" cy="457200"/>
          </a:xfrm>
          <a:prstGeom prst="ellipse">
            <a:avLst/>
          </a:prstGeom>
          <a:solidFill>
            <a:schemeClr val="accent4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26" name="Text 21"/>
          <p:cNvSpPr txBox="1"/>
          <p:nvPr/>
        </p:nvSpPr>
        <p:spPr>
          <a:xfrm>
            <a:off x="9326880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4</a:t>
            </a:r>
            <a:endParaRPr lang="en-US" sz="1600" dirty="0"/>
          </a:p>
        </p:txBody>
      </p:sp>
      <p:sp>
        <p:nvSpPr>
          <p:cNvPr id="27" name="step icon 4"/>
          <p:cNvSpPr/>
          <p:nvPr/>
        </p:nvSpPr>
        <p:spPr>
          <a:xfrm>
            <a:off x="9326880" y="2788920"/>
            <a:ext cx="731520" cy="731520"/>
          </a:xfrm>
          <a:prstGeom prst="ellipse">
            <a:avLst/>
          </a:prstGeom>
          <a:solidFill>
            <a:schemeClr val="bg1">
              <a:alpha val="18000"/>
            </a:schemeClr>
          </a:solidFill>
          <a:ln w="19050">
            <a:solidFill>
              <a:schemeClr val="accent4"/>
            </a:solidFill>
            <a:prstDash val="solid"/>
          </a:ln>
        </p:spPr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09760" y="2971800"/>
            <a:ext cx="365760" cy="365760"/>
          </a:xfrm>
          <a:prstGeom prst="rect">
            <a:avLst/>
          </a:prstGeom>
        </p:spPr>
      </p:pic>
      <p:sp>
        <p:nvSpPr>
          <p:cNvPr id="29" name="Text 23"/>
          <p:cNvSpPr txBox="1"/>
          <p:nvPr/>
        </p:nvSpPr>
        <p:spPr>
          <a:xfrm>
            <a:off x="9326880" y="370332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Встреча состоялась</a:t>
            </a:r>
            <a:endParaRPr lang="en-US" sz="2000" dirty="0"/>
          </a:p>
        </p:txBody>
      </p:sp>
      <p:sp>
        <p:nvSpPr>
          <p:cNvPr id="30" name="Text 24"/>
          <p:cNvSpPr txBox="1"/>
          <p:nvPr/>
        </p:nvSpPr>
        <p:spPr>
          <a:xfrm>
            <a:off x="9326880" y="438912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Вход в геозону 100 м — статус «На месте» ставится сам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D3DAF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640080" y="41148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9 фич</a:t>
            </a:r>
            <a:endParaRPr lang="en-US" sz="14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640080" y="86868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Девять фич в трёх релизах</a:t>
            </a:r>
            <a:endParaRPr lang="en-US" sz="3400" dirty="0"/>
          </a:p>
        </p:txBody>
      </p:sp>
      <p:sp>
        <p:nvSpPr>
          <p:cNvPr id="4" name="badge 1"/>
          <p:cNvSpPr/>
          <p:nvPr/>
        </p:nvSpPr>
        <p:spPr>
          <a:xfrm>
            <a:off x="868680" y="2194560"/>
            <a:ext cx="457200" cy="45720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2194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2286000" y="2194560"/>
            <a:ext cx="685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MVP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2679192"/>
            <a:ext cx="2103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Маршрут до друга</a:t>
            </a:r>
            <a:endParaRPr lang="en-US" sz="1600" dirty="0"/>
          </a:p>
        </p:txBody>
      </p:sp>
      <p:sp>
        <p:nvSpPr>
          <p:cNvPr id="8" name="badge 2"/>
          <p:cNvSpPr/>
          <p:nvPr/>
        </p:nvSpPr>
        <p:spPr>
          <a:xfrm>
            <a:off x="3611880" y="2194560"/>
            <a:ext cx="457200" cy="45720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611880" y="2194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2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5029200" y="2194560"/>
            <a:ext cx="685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MVP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3611880" y="2679192"/>
            <a:ext cx="2103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Умные сборы</a:t>
            </a:r>
            <a:endParaRPr lang="en-US" sz="1600" dirty="0"/>
          </a:p>
        </p:txBody>
      </p:sp>
      <p:sp>
        <p:nvSpPr>
          <p:cNvPr id="12" name="badge 7"/>
          <p:cNvSpPr/>
          <p:nvPr/>
        </p:nvSpPr>
        <p:spPr>
          <a:xfrm>
            <a:off x="6355080" y="2194560"/>
            <a:ext cx="457200" cy="45720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355080" y="2194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7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7772400" y="2194560"/>
            <a:ext cx="685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MVP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6355080" y="2679192"/>
            <a:ext cx="2103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SOS с live-трансляцией</a:t>
            </a:r>
            <a:endParaRPr lang="en-US" sz="1600" dirty="0"/>
          </a:p>
        </p:txBody>
      </p:sp>
      <p:sp>
        <p:nvSpPr>
          <p:cNvPr id="16" name="badge 9"/>
          <p:cNvSpPr/>
          <p:nvPr/>
        </p:nvSpPr>
        <p:spPr>
          <a:xfrm>
            <a:off x="868680" y="3566160"/>
            <a:ext cx="457200" cy="45720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68680" y="3566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9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2286000" y="3566160"/>
            <a:ext cx="685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MVP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868680" y="4050792"/>
            <a:ext cx="2103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Дом / работа и места</a:t>
            </a:r>
            <a:endParaRPr lang="en-US" sz="1600" dirty="0"/>
          </a:p>
        </p:txBody>
      </p:sp>
      <p:sp>
        <p:nvSpPr>
          <p:cNvPr id="20" name="badge 3"/>
          <p:cNvSpPr/>
          <p:nvPr/>
        </p:nvSpPr>
        <p:spPr>
          <a:xfrm>
            <a:off x="3611880" y="3566160"/>
            <a:ext cx="457200" cy="457200"/>
          </a:xfrm>
          <a:prstGeom prst="ellipse">
            <a:avLst/>
          </a:prstGeom>
          <a:solidFill>
            <a:schemeClr val="accent2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3611880" y="3566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3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5029200" y="3566160"/>
            <a:ext cx="685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v1.1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3611880" y="4050792"/>
            <a:ext cx="2103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Чекины и районы</a:t>
            </a:r>
            <a:endParaRPr lang="en-US" sz="1600" dirty="0"/>
          </a:p>
        </p:txBody>
      </p:sp>
      <p:sp>
        <p:nvSpPr>
          <p:cNvPr id="24" name="badge 5"/>
          <p:cNvSpPr/>
          <p:nvPr/>
        </p:nvSpPr>
        <p:spPr>
          <a:xfrm>
            <a:off x="6355080" y="3566160"/>
            <a:ext cx="457200" cy="457200"/>
          </a:xfrm>
          <a:prstGeom prst="ellipse">
            <a:avLst/>
          </a:prstGeom>
          <a:solidFill>
            <a:schemeClr val="accent2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355080" y="3566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5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7772400" y="3566160"/>
            <a:ext cx="685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v1.1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6355080" y="4050792"/>
            <a:ext cx="2103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Стикеры на карте</a:t>
            </a:r>
            <a:endParaRPr lang="en-US" sz="1600" dirty="0"/>
          </a:p>
        </p:txBody>
      </p:sp>
      <p:sp>
        <p:nvSpPr>
          <p:cNvPr id="28" name="badge 8"/>
          <p:cNvSpPr/>
          <p:nvPr/>
        </p:nvSpPr>
        <p:spPr>
          <a:xfrm>
            <a:off x="868680" y="4937760"/>
            <a:ext cx="457200" cy="457200"/>
          </a:xfrm>
          <a:prstGeom prst="ellipse">
            <a:avLst/>
          </a:prstGeom>
          <a:solidFill>
            <a:schemeClr val="accent2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68680" y="4937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8</a:t>
            </a:r>
            <a:endParaRPr lang="en-US" sz="1500" dirty="0"/>
          </a:p>
        </p:txBody>
      </p:sp>
      <p:sp>
        <p:nvSpPr>
          <p:cNvPr id="30" name="Text 28"/>
          <p:cNvSpPr txBox="1"/>
          <p:nvPr/>
        </p:nvSpPr>
        <p:spPr>
          <a:xfrm>
            <a:off x="2286000" y="4937760"/>
            <a:ext cx="685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v1.1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868680" y="5422392"/>
            <a:ext cx="2103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Виджет с друзьями</a:t>
            </a:r>
            <a:endParaRPr lang="en-US" sz="1600" dirty="0"/>
          </a:p>
        </p:txBody>
      </p:sp>
      <p:sp>
        <p:nvSpPr>
          <p:cNvPr id="32" name="badge 4"/>
          <p:cNvSpPr/>
          <p:nvPr/>
        </p:nvSpPr>
        <p:spPr>
          <a:xfrm>
            <a:off x="3611880" y="4937760"/>
            <a:ext cx="457200" cy="457200"/>
          </a:xfrm>
          <a:prstGeom prst="ellipse">
            <a:avLst/>
          </a:prstGeom>
          <a:solidFill>
            <a:schemeClr val="accent3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3611880" y="4937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4</a:t>
            </a:r>
            <a:endParaRPr lang="en-US" sz="1500" dirty="0"/>
          </a:p>
        </p:txBody>
      </p:sp>
      <p:sp>
        <p:nvSpPr>
          <p:cNvPr id="34" name="Text 32"/>
          <p:cNvSpPr txBox="1"/>
          <p:nvPr/>
        </p:nvSpPr>
        <p:spPr>
          <a:xfrm>
            <a:off x="5029200" y="4937760"/>
            <a:ext cx="685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chemeClr val="accent3"/>
                </a:solidFill>
              </a:rPr>
              <a:t>v1.2</a:t>
            </a:r>
            <a:endParaRPr lang="en-US" sz="1300" dirty="0"/>
          </a:p>
        </p:txBody>
      </p:sp>
      <p:sp>
        <p:nvSpPr>
          <p:cNvPr id="35" name="Text 33"/>
          <p:cNvSpPr txBox="1"/>
          <p:nvPr/>
        </p:nvSpPr>
        <p:spPr>
          <a:xfrm>
            <a:off x="3611880" y="5422392"/>
            <a:ext cx="2103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Челленджи и блинкисы</a:t>
            </a:r>
            <a:endParaRPr lang="en-US" sz="1600" dirty="0"/>
          </a:p>
        </p:txBody>
      </p:sp>
      <p:sp>
        <p:nvSpPr>
          <p:cNvPr id="36" name="badge 6"/>
          <p:cNvSpPr/>
          <p:nvPr/>
        </p:nvSpPr>
        <p:spPr>
          <a:xfrm>
            <a:off x="6355080" y="4937760"/>
            <a:ext cx="457200" cy="457200"/>
          </a:xfrm>
          <a:prstGeom prst="ellipse">
            <a:avLst/>
          </a:prstGeom>
          <a:solidFill>
            <a:schemeClr val="accent3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6355080" y="4937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6</a:t>
            </a:r>
            <a:endParaRPr lang="en-US" sz="1500" dirty="0"/>
          </a:p>
        </p:txBody>
      </p:sp>
      <p:sp>
        <p:nvSpPr>
          <p:cNvPr id="38" name="Text 36"/>
          <p:cNvSpPr txBox="1"/>
          <p:nvPr/>
        </p:nvSpPr>
        <p:spPr>
          <a:xfrm>
            <a:off x="7772400" y="4937760"/>
            <a:ext cx="685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chemeClr val="accent3"/>
                </a:solidFill>
              </a:rPr>
              <a:t>v1.2</a:t>
            </a:r>
            <a:endParaRPr lang="en-US" sz="1300" dirty="0"/>
          </a:p>
        </p:txBody>
      </p:sp>
      <p:sp>
        <p:nvSpPr>
          <p:cNvPr id="39" name="Text 37"/>
          <p:cNvSpPr txBox="1"/>
          <p:nvPr/>
        </p:nvSpPr>
        <p:spPr>
          <a:xfrm>
            <a:off x="6355080" y="5422392"/>
            <a:ext cx="2103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Режим рации</a:t>
            </a:r>
            <a:endParaRPr lang="en-US" sz="1600" dirty="0"/>
          </a:p>
        </p:txBody>
      </p:sp>
      <p:sp>
        <p:nvSpPr>
          <p:cNvPr id="40" name="Text 38"/>
          <p:cNvSpPr txBox="1"/>
          <p:nvPr/>
        </p:nvSpPr>
        <p:spPr>
          <a:xfrm>
            <a:off x="9418320" y="22860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MVP</a:t>
            </a:r>
            <a:endParaRPr lang="en-US" sz="2400" dirty="0"/>
          </a:p>
        </p:txBody>
      </p:sp>
      <p:sp>
        <p:nvSpPr>
          <p:cNvPr id="41" name="Text 39"/>
          <p:cNvSpPr txBox="1"/>
          <p:nvPr/>
        </p:nvSpPr>
        <p:spPr>
          <a:xfrm>
            <a:off x="9418320" y="274320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встретиться и безопасность</a:t>
            </a:r>
            <a:endParaRPr lang="en-US" sz="1400" dirty="0"/>
          </a:p>
        </p:txBody>
      </p:sp>
      <p:sp>
        <p:nvSpPr>
          <p:cNvPr id="42" name="Text 40"/>
          <p:cNvSpPr txBox="1"/>
          <p:nvPr/>
        </p:nvSpPr>
        <p:spPr>
          <a:xfrm>
            <a:off x="9418320" y="34747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2"/>
                </a:solidFill>
              </a:rPr>
              <a:t>v1.1</a:t>
            </a:r>
            <a:endParaRPr lang="en-US" sz="2400" dirty="0"/>
          </a:p>
        </p:txBody>
      </p:sp>
      <p:sp>
        <p:nvSpPr>
          <p:cNvPr id="43" name="Text 41"/>
          <p:cNvSpPr txBox="1"/>
          <p:nvPr/>
        </p:nvSpPr>
        <p:spPr>
          <a:xfrm>
            <a:off x="9418320" y="393192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ежедневное вовлечение</a:t>
            </a:r>
            <a:endParaRPr lang="en-US" sz="1400" dirty="0"/>
          </a:p>
        </p:txBody>
      </p:sp>
      <p:sp>
        <p:nvSpPr>
          <p:cNvPr id="44" name="Text 42"/>
          <p:cNvSpPr txBox="1"/>
          <p:nvPr/>
        </p:nvSpPr>
        <p:spPr>
          <a:xfrm>
            <a:off x="9418320" y="46634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3"/>
                </a:solidFill>
              </a:rPr>
              <a:t>v1.2</a:t>
            </a:r>
            <a:endParaRPr lang="en-US" sz="2400" dirty="0"/>
          </a:p>
        </p:txBody>
      </p:sp>
      <p:sp>
        <p:nvSpPr>
          <p:cNvPr id="45" name="Text 43"/>
          <p:cNvSpPr txBox="1"/>
          <p:nvPr/>
        </p:nvSpPr>
        <p:spPr>
          <a:xfrm>
            <a:off x="9418320" y="512064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дорогие и рискованные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D3DAF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640080" y="411480"/>
            <a:ext cx="21168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Аудитория и метрики</a:t>
            </a:r>
            <a:endParaRPr lang="en-US" sz="14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640080" y="86868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Главная метрика — реальные встречи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1051560" y="23317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chemeClr val="accent2"/>
                </a:solidFill>
              </a:rPr>
              <a:t>NORTH STAR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051560" y="2743200"/>
            <a:ext cx="4297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bg1"/>
                </a:solidFill>
              </a:rPr>
              <a:t>Офлайн-встречи в неделю на активного пользователя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1051560" y="4206240"/>
            <a:ext cx="4297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Сбор засчитан, когда участники реально пришли в точку (по геозоне)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051560" y="4937760"/>
            <a:ext cx="4297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4"/>
                </a:solidFill>
              </a:rPr>
              <a:t>Аудитория  </a:t>
            </a:r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16–25 лет, компании друзей в большом городе, часто встречаются офлайн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6309360" y="224028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45 / 25 / 15%</a:t>
            </a: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6309360" y="301752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Retention D1 / D7 / D30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9098280" y="224028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2"/>
                </a:solidFill>
              </a:rPr>
              <a:t>≥ 50%</a:t>
            </a:r>
            <a:endParaRPr lang="en-US" sz="3600" dirty="0"/>
          </a:p>
        </p:txBody>
      </p:sp>
      <p:sp>
        <p:nvSpPr>
          <p:cNvPr id="11" name="Text 9"/>
          <p:cNvSpPr txBox="1"/>
          <p:nvPr/>
        </p:nvSpPr>
        <p:spPr>
          <a:xfrm>
            <a:off x="9098280" y="301752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пользователей с 3+ друзьями через 7 дней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6309360" y="429768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3"/>
                </a:solidFill>
              </a:rPr>
              <a:t>≥ 60%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6309360" y="507492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сборов, где дошли 2+ участника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9098280" y="429768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4"/>
                </a:solidFill>
              </a:rPr>
              <a:t>≤ 4%</a:t>
            </a:r>
            <a:endParaRPr lang="en-US" sz="3600" dirty="0"/>
          </a:p>
        </p:txBody>
      </p:sp>
      <p:sp>
        <p:nvSpPr>
          <p:cNvPr id="15" name="Text 13"/>
          <p:cNvSpPr txBox="1"/>
          <p:nvPr/>
        </p:nvSpPr>
        <p:spPr>
          <a:xfrm>
            <a:off x="9098280" y="507492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батареи в сутки в фоне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D3DAF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640080" y="411480"/>
            <a:ext cx="13487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03 · Канбан</a:t>
            </a:r>
            <a:endParaRPr lang="en-US" sz="14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640080" y="86868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Канбан: что уже сделано</a:t>
            </a:r>
            <a:endParaRPr lang="en-US" sz="3400" dirty="0"/>
          </a:p>
        </p:txBody>
      </p:sp>
      <p:sp>
        <p:nvSpPr>
          <p:cNvPr id="4" name="status dot 1"/>
          <p:cNvSpPr/>
          <p:nvPr/>
        </p:nvSpPr>
        <p:spPr>
          <a:xfrm>
            <a:off x="960120" y="2304288"/>
            <a:ext cx="201168" cy="201168"/>
          </a:xfrm>
          <a:prstGeom prst="ellipse">
            <a:avLst/>
          </a:prstGeom>
          <a:solidFill>
            <a:schemeClr val="accent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280160" y="219456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Сделано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3383280" y="21945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chemeClr val="accent6"/>
                </a:solidFill>
              </a:rPr>
              <a:t>6</a:t>
            </a:r>
            <a:endParaRPr lang="en-US" sz="1600" dirty="0"/>
          </a:p>
        </p:txBody>
      </p:sp>
      <p:sp>
        <p:nvSpPr>
          <p:cNvPr id="7" name="task 1.1"/>
          <p:cNvSpPr/>
          <p:nvPr/>
        </p:nvSpPr>
        <p:spPr>
          <a:xfrm>
            <a:off x="868680" y="2788920"/>
            <a:ext cx="3017520" cy="457200"/>
          </a:xfrm>
          <a:prstGeom prst="roundRect">
            <a:avLst>
              <a:gd name="adj" fmla="val 28000"/>
            </a:avLst>
          </a:prstGeom>
          <a:solidFill>
            <a:schemeClr val="bg1">
              <a:alpha val="12000"/>
            </a:schemeClr>
          </a:solidFill>
          <a:ln w="6350">
            <a:solidFill>
              <a:schemeClr val="bg1">
                <a:alpha val="40000"/>
              </a:scheme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24128" y="27889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✓  Видение продукта</a:t>
            </a:r>
            <a:endParaRPr lang="en-US" sz="1400" dirty="0"/>
          </a:p>
        </p:txBody>
      </p:sp>
      <p:sp>
        <p:nvSpPr>
          <p:cNvPr id="9" name="task 1.2"/>
          <p:cNvSpPr/>
          <p:nvPr/>
        </p:nvSpPr>
        <p:spPr>
          <a:xfrm>
            <a:off x="868680" y="3337560"/>
            <a:ext cx="3017520" cy="457200"/>
          </a:xfrm>
          <a:prstGeom prst="roundRect">
            <a:avLst>
              <a:gd name="adj" fmla="val 28000"/>
            </a:avLst>
          </a:prstGeom>
          <a:solidFill>
            <a:schemeClr val="bg1">
              <a:alpha val="12000"/>
            </a:schemeClr>
          </a:solidFill>
          <a:ln w="6350">
            <a:solidFill>
              <a:schemeClr val="bg1">
                <a:alpha val="40000"/>
              </a:schemeClr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024128" y="33375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✓  Спецификации 9 фич</a:t>
            </a:r>
            <a:endParaRPr lang="en-US" sz="1400" dirty="0"/>
          </a:p>
        </p:txBody>
      </p:sp>
      <p:sp>
        <p:nvSpPr>
          <p:cNvPr id="11" name="task 1.3"/>
          <p:cNvSpPr/>
          <p:nvPr/>
        </p:nvSpPr>
        <p:spPr>
          <a:xfrm>
            <a:off x="868680" y="3886200"/>
            <a:ext cx="3017520" cy="457200"/>
          </a:xfrm>
          <a:prstGeom prst="roundRect">
            <a:avLst>
              <a:gd name="adj" fmla="val 28000"/>
            </a:avLst>
          </a:prstGeom>
          <a:solidFill>
            <a:schemeClr val="bg1">
              <a:alpha val="12000"/>
            </a:schemeClr>
          </a:solidFill>
          <a:ln w="6350">
            <a:solidFill>
              <a:schemeClr val="bg1">
                <a:alpha val="40000"/>
              </a:schemeClr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024128" y="38862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✓  Роадмап и RICE</a:t>
            </a:r>
            <a:endParaRPr lang="en-US" sz="1400" dirty="0"/>
          </a:p>
        </p:txBody>
      </p:sp>
      <p:sp>
        <p:nvSpPr>
          <p:cNvPr id="13" name="task 1.4"/>
          <p:cNvSpPr/>
          <p:nvPr/>
        </p:nvSpPr>
        <p:spPr>
          <a:xfrm>
            <a:off x="868680" y="4434840"/>
            <a:ext cx="3017520" cy="457200"/>
          </a:xfrm>
          <a:prstGeom prst="roundRect">
            <a:avLst>
              <a:gd name="adj" fmla="val 28000"/>
            </a:avLst>
          </a:prstGeom>
          <a:solidFill>
            <a:schemeClr val="bg1">
              <a:alpha val="12000"/>
            </a:schemeClr>
          </a:solidFill>
          <a:ln w="6350">
            <a:solidFill>
              <a:schemeClr val="bg1">
                <a:alpha val="40000"/>
              </a:schemeClr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024128" y="44348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✓  Бэклог: эпики и задачи</a:t>
            </a:r>
            <a:endParaRPr lang="en-US" sz="1400" dirty="0"/>
          </a:p>
        </p:txBody>
      </p:sp>
      <p:sp>
        <p:nvSpPr>
          <p:cNvPr id="15" name="task 1.5"/>
          <p:cNvSpPr/>
          <p:nvPr/>
        </p:nvSpPr>
        <p:spPr>
          <a:xfrm>
            <a:off x="868680" y="4983480"/>
            <a:ext cx="3017520" cy="457200"/>
          </a:xfrm>
          <a:prstGeom prst="roundRect">
            <a:avLst>
              <a:gd name="adj" fmla="val 28000"/>
            </a:avLst>
          </a:prstGeom>
          <a:solidFill>
            <a:schemeClr val="bg1">
              <a:alpha val="12000"/>
            </a:schemeClr>
          </a:solidFill>
          <a:ln w="6350">
            <a:solidFill>
              <a:schemeClr val="bg1">
                <a:alpha val="40000"/>
              </a:schemeClr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024128" y="49834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✓  Архитектура и стек</a:t>
            </a:r>
            <a:endParaRPr lang="en-US" sz="1400" dirty="0"/>
          </a:p>
        </p:txBody>
      </p:sp>
      <p:sp>
        <p:nvSpPr>
          <p:cNvPr id="17" name="task 1.6"/>
          <p:cNvSpPr/>
          <p:nvPr/>
        </p:nvSpPr>
        <p:spPr>
          <a:xfrm>
            <a:off x="868680" y="5532120"/>
            <a:ext cx="3017520" cy="457200"/>
          </a:xfrm>
          <a:prstGeom prst="roundRect">
            <a:avLst>
              <a:gd name="adj" fmla="val 28000"/>
            </a:avLst>
          </a:prstGeom>
          <a:solidFill>
            <a:schemeClr val="bg1">
              <a:alpha val="12000"/>
            </a:schemeClr>
          </a:solidFill>
          <a:ln w="6350">
            <a:solidFill>
              <a:schemeClr val="bg1">
                <a:alpha val="40000"/>
              </a:schemeClr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024128" y="55321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✓  Приватность и риски</a:t>
            </a:r>
            <a:endParaRPr lang="en-US" sz="1400" dirty="0"/>
          </a:p>
        </p:txBody>
      </p:sp>
      <p:sp>
        <p:nvSpPr>
          <p:cNvPr id="19" name="status dot 2"/>
          <p:cNvSpPr/>
          <p:nvPr/>
        </p:nvSpPr>
        <p:spPr>
          <a:xfrm>
            <a:off x="4663440" y="2304288"/>
            <a:ext cx="201168" cy="201168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4983480" y="219456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Следующий шаг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7086600" y="21945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chemeClr val="accent4"/>
                </a:solidFill>
              </a:rPr>
              <a:t>4</a:t>
            </a:r>
            <a:endParaRPr lang="en-US" sz="1600" dirty="0"/>
          </a:p>
        </p:txBody>
      </p:sp>
      <p:sp>
        <p:nvSpPr>
          <p:cNvPr id="22" name="task 2.1"/>
          <p:cNvSpPr/>
          <p:nvPr/>
        </p:nvSpPr>
        <p:spPr>
          <a:xfrm>
            <a:off x="4572000" y="2788920"/>
            <a:ext cx="3017520" cy="457200"/>
          </a:xfrm>
          <a:prstGeom prst="roundRect">
            <a:avLst>
              <a:gd name="adj" fmla="val 28000"/>
            </a:avLst>
          </a:prstGeom>
          <a:solidFill>
            <a:schemeClr val="bg1">
              <a:alpha val="12000"/>
            </a:schemeClr>
          </a:solidFill>
          <a:ln w="6350">
            <a:solidFill>
              <a:schemeClr val="bg1">
                <a:alpha val="40000"/>
              </a:schemeClr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727448" y="27889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10–15 интервью с аудиторией</a:t>
            </a:r>
            <a:endParaRPr lang="en-US" sz="1400" dirty="0"/>
          </a:p>
        </p:txBody>
      </p:sp>
      <p:sp>
        <p:nvSpPr>
          <p:cNvPr id="24" name="task 2.2"/>
          <p:cNvSpPr/>
          <p:nvPr/>
        </p:nvSpPr>
        <p:spPr>
          <a:xfrm>
            <a:off x="4572000" y="3337560"/>
            <a:ext cx="3017520" cy="457200"/>
          </a:xfrm>
          <a:prstGeom prst="roundRect">
            <a:avLst>
              <a:gd name="adj" fmla="val 28000"/>
            </a:avLst>
          </a:prstGeom>
          <a:solidFill>
            <a:schemeClr val="bg1">
              <a:alpha val="12000"/>
            </a:schemeClr>
          </a:solidFill>
          <a:ln w="6350">
            <a:solidFill>
              <a:schemeClr val="bg1">
                <a:alpha val="40000"/>
              </a:schemeClr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727448" y="33375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Решить открытые вопросы</a:t>
            </a:r>
            <a:endParaRPr lang="en-US" sz="1400" dirty="0"/>
          </a:p>
        </p:txBody>
      </p:sp>
      <p:sp>
        <p:nvSpPr>
          <p:cNvPr id="26" name="task 2.3"/>
          <p:cNvSpPr/>
          <p:nvPr/>
        </p:nvSpPr>
        <p:spPr>
          <a:xfrm>
            <a:off x="4572000" y="3886200"/>
            <a:ext cx="3017520" cy="457200"/>
          </a:xfrm>
          <a:prstGeom prst="roundRect">
            <a:avLst>
              <a:gd name="adj" fmla="val 28000"/>
            </a:avLst>
          </a:prstGeom>
          <a:solidFill>
            <a:schemeClr val="bg1">
              <a:alpha val="12000"/>
            </a:schemeClr>
          </a:solidFill>
          <a:ln w="6350">
            <a:solidFill>
              <a:schemeClr val="bg1">
                <a:alpha val="40000"/>
              </a:schemeClr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4727448" y="38862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Спайк фоновой геолокации</a:t>
            </a:r>
            <a:endParaRPr lang="en-US" sz="1400" dirty="0"/>
          </a:p>
        </p:txBody>
      </p:sp>
      <p:sp>
        <p:nvSpPr>
          <p:cNvPr id="28" name="task 2.4"/>
          <p:cNvSpPr/>
          <p:nvPr/>
        </p:nvSpPr>
        <p:spPr>
          <a:xfrm>
            <a:off x="4572000" y="4434840"/>
            <a:ext cx="3017520" cy="457200"/>
          </a:xfrm>
          <a:prstGeom prst="roundRect">
            <a:avLst>
              <a:gd name="adj" fmla="val 28000"/>
            </a:avLst>
          </a:prstGeom>
          <a:solidFill>
            <a:schemeClr val="bg1">
              <a:alpha val="12000"/>
            </a:schemeClr>
          </a:solidFill>
          <a:ln w="6350">
            <a:solidFill>
              <a:schemeClr val="bg1">
                <a:alpha val="40000"/>
              </a:schemeClr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4727448" y="44348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Кликабельный прототип</a:t>
            </a:r>
            <a:endParaRPr lang="en-US" sz="1400" dirty="0"/>
          </a:p>
        </p:txBody>
      </p:sp>
      <p:sp>
        <p:nvSpPr>
          <p:cNvPr id="30" name="status dot 3"/>
          <p:cNvSpPr/>
          <p:nvPr/>
        </p:nvSpPr>
        <p:spPr>
          <a:xfrm>
            <a:off x="8366760" y="2304288"/>
            <a:ext cx="201168" cy="201168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8686800" y="219456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Бэклог</a:t>
            </a:r>
            <a:endParaRPr lang="en-US" sz="1800" dirty="0"/>
          </a:p>
        </p:txBody>
      </p:sp>
      <p:sp>
        <p:nvSpPr>
          <p:cNvPr id="32" name="Text 30"/>
          <p:cNvSpPr txBox="1"/>
          <p:nvPr/>
        </p:nvSpPr>
        <p:spPr>
          <a:xfrm>
            <a:off x="10789920" y="21945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chemeClr val="accent5"/>
                </a:solidFill>
              </a:rPr>
              <a:t>4</a:t>
            </a:r>
            <a:endParaRPr lang="en-US" sz="1600" dirty="0"/>
          </a:p>
        </p:txBody>
      </p:sp>
      <p:sp>
        <p:nvSpPr>
          <p:cNvPr id="33" name="task 3.1"/>
          <p:cNvSpPr/>
          <p:nvPr/>
        </p:nvSpPr>
        <p:spPr>
          <a:xfrm>
            <a:off x="8275320" y="2788920"/>
            <a:ext cx="3017520" cy="457200"/>
          </a:xfrm>
          <a:prstGeom prst="roundRect">
            <a:avLst>
              <a:gd name="adj" fmla="val 28000"/>
            </a:avLst>
          </a:prstGeom>
          <a:solidFill>
            <a:schemeClr val="bg1">
              <a:alpha val="12000"/>
            </a:schemeClr>
          </a:solidFill>
          <a:ln w="6350">
            <a:solidFill>
              <a:schemeClr val="bg1">
                <a:alpha val="40000"/>
              </a:schemeClr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8430768" y="27889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Фундамент: друзья, карта, чат</a:t>
            </a:r>
            <a:endParaRPr lang="en-US" sz="1400" dirty="0"/>
          </a:p>
        </p:txBody>
      </p:sp>
      <p:sp>
        <p:nvSpPr>
          <p:cNvPr id="35" name="task 3.2"/>
          <p:cNvSpPr/>
          <p:nvPr/>
        </p:nvSpPr>
        <p:spPr>
          <a:xfrm>
            <a:off x="8275320" y="3337560"/>
            <a:ext cx="3017520" cy="457200"/>
          </a:xfrm>
          <a:prstGeom prst="roundRect">
            <a:avLst>
              <a:gd name="adj" fmla="val 28000"/>
            </a:avLst>
          </a:prstGeom>
          <a:solidFill>
            <a:schemeClr val="bg1">
              <a:alpha val="12000"/>
            </a:schemeClr>
          </a:solidFill>
          <a:ln w="6350">
            <a:solidFill>
              <a:schemeClr val="bg1">
                <a:alpha val="40000"/>
              </a:schemeClr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8430768" y="33375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MVP-фичи 1, 2, 7, 9</a:t>
            </a:r>
            <a:endParaRPr lang="en-US" sz="1400" dirty="0"/>
          </a:p>
        </p:txBody>
      </p:sp>
      <p:sp>
        <p:nvSpPr>
          <p:cNvPr id="37" name="task 3.3"/>
          <p:cNvSpPr/>
          <p:nvPr/>
        </p:nvSpPr>
        <p:spPr>
          <a:xfrm>
            <a:off x="8275320" y="3886200"/>
            <a:ext cx="3017520" cy="457200"/>
          </a:xfrm>
          <a:prstGeom prst="roundRect">
            <a:avLst>
              <a:gd name="adj" fmla="val 28000"/>
            </a:avLst>
          </a:prstGeom>
          <a:solidFill>
            <a:schemeClr val="bg1">
              <a:alpha val="12000"/>
            </a:schemeClr>
          </a:solidFill>
          <a:ln w="6350">
            <a:solidFill>
              <a:schemeClr val="bg1">
                <a:alpha val="40000"/>
              </a:schemeClr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8430768" y="38862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Закрытая бета</a:t>
            </a:r>
            <a:endParaRPr lang="en-US" sz="1400" dirty="0"/>
          </a:p>
        </p:txBody>
      </p:sp>
      <p:sp>
        <p:nvSpPr>
          <p:cNvPr id="39" name="task 3.4"/>
          <p:cNvSpPr/>
          <p:nvPr/>
        </p:nvSpPr>
        <p:spPr>
          <a:xfrm>
            <a:off x="8275320" y="4434840"/>
            <a:ext cx="3017520" cy="457200"/>
          </a:xfrm>
          <a:prstGeom prst="roundRect">
            <a:avLst>
              <a:gd name="adj" fmla="val 28000"/>
            </a:avLst>
          </a:prstGeom>
          <a:solidFill>
            <a:schemeClr val="bg1">
              <a:alpha val="12000"/>
            </a:schemeClr>
          </a:solidFill>
          <a:ln w="6350">
            <a:solidFill>
              <a:schemeClr val="bg1">
                <a:alpha val="40000"/>
              </a:schemeClr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8430768" y="44348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Релизы v1.1 и v1.2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D3DAF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640080" y="411480"/>
            <a:ext cx="14447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04 · Роадмап</a:t>
            </a:r>
            <a:endParaRPr lang="en-US" sz="14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640080" y="86868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Девять месяцев от идеи до v1.2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3749040" y="224028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2"/>
                </a:solidFill>
              </a:rPr>
              <a:t>1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4572000" y="224028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2"/>
                </a:solidFill>
              </a:rPr>
              <a:t>2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0" y="2651760"/>
            <a:ext cx="0" cy="2880360"/>
          </a:xfrm>
          <a:prstGeom prst="line">
            <a:avLst/>
          </a:prstGeom>
          <a:noFill/>
          <a:ln w="9525">
            <a:solidFill>
              <a:schemeClr val="bg1">
                <a:alpha val="25000"/>
              </a:schemeClr>
            </a:solidFill>
            <a:prstDash val="dash"/>
          </a:ln>
        </p:spPr>
      </p:sp>
      <p:sp>
        <p:nvSpPr>
          <p:cNvPr id="7" name="Text 5"/>
          <p:cNvSpPr txBox="1"/>
          <p:nvPr/>
        </p:nvSpPr>
        <p:spPr>
          <a:xfrm>
            <a:off x="5394960" y="224028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2"/>
                </a:solidFill>
              </a:rPr>
              <a:t>3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394960" y="2651760"/>
            <a:ext cx="0" cy="2880360"/>
          </a:xfrm>
          <a:prstGeom prst="line">
            <a:avLst/>
          </a:prstGeom>
          <a:noFill/>
          <a:ln w="9525">
            <a:solidFill>
              <a:schemeClr val="bg1">
                <a:alpha val="25000"/>
              </a:schemeClr>
            </a:solidFill>
            <a:prstDash val="dash"/>
          </a:ln>
        </p:spPr>
      </p:sp>
      <p:sp>
        <p:nvSpPr>
          <p:cNvPr id="9" name="Text 7"/>
          <p:cNvSpPr txBox="1"/>
          <p:nvPr/>
        </p:nvSpPr>
        <p:spPr>
          <a:xfrm>
            <a:off x="6217920" y="224028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2"/>
                </a:solidFill>
              </a:rPr>
              <a:t>4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217920" y="2651760"/>
            <a:ext cx="0" cy="2880360"/>
          </a:xfrm>
          <a:prstGeom prst="line">
            <a:avLst/>
          </a:prstGeom>
          <a:noFill/>
          <a:ln w="9525">
            <a:solidFill>
              <a:schemeClr val="bg1">
                <a:alpha val="25000"/>
              </a:schemeClr>
            </a:solidFill>
            <a:prstDash val="dash"/>
          </a:ln>
        </p:spPr>
      </p:sp>
      <p:sp>
        <p:nvSpPr>
          <p:cNvPr id="11" name="Text 9"/>
          <p:cNvSpPr txBox="1"/>
          <p:nvPr/>
        </p:nvSpPr>
        <p:spPr>
          <a:xfrm>
            <a:off x="7040880" y="224028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2"/>
                </a:solidFill>
              </a:rPr>
              <a:t>5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040880" y="2651760"/>
            <a:ext cx="0" cy="2880360"/>
          </a:xfrm>
          <a:prstGeom prst="line">
            <a:avLst/>
          </a:prstGeom>
          <a:noFill/>
          <a:ln w="9525">
            <a:solidFill>
              <a:schemeClr val="bg1">
                <a:alpha val="25000"/>
              </a:schemeClr>
            </a:solidFill>
            <a:prstDash val="dash"/>
          </a:ln>
        </p:spPr>
      </p:sp>
      <p:sp>
        <p:nvSpPr>
          <p:cNvPr id="13" name="Text 11"/>
          <p:cNvSpPr txBox="1"/>
          <p:nvPr/>
        </p:nvSpPr>
        <p:spPr>
          <a:xfrm>
            <a:off x="7863840" y="224028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2"/>
                </a:solidFill>
              </a:rPr>
              <a:t>6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863840" y="2651760"/>
            <a:ext cx="0" cy="2880360"/>
          </a:xfrm>
          <a:prstGeom prst="line">
            <a:avLst/>
          </a:prstGeom>
          <a:noFill/>
          <a:ln w="9525">
            <a:solidFill>
              <a:schemeClr val="bg1">
                <a:alpha val="25000"/>
              </a:schemeClr>
            </a:solidFill>
            <a:prstDash val="dash"/>
          </a:ln>
        </p:spPr>
      </p:sp>
      <p:sp>
        <p:nvSpPr>
          <p:cNvPr id="15" name="Text 13"/>
          <p:cNvSpPr txBox="1"/>
          <p:nvPr/>
        </p:nvSpPr>
        <p:spPr>
          <a:xfrm>
            <a:off x="8686800" y="224028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2"/>
                </a:solidFill>
              </a:rPr>
              <a:t>7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686800" y="2651760"/>
            <a:ext cx="0" cy="2880360"/>
          </a:xfrm>
          <a:prstGeom prst="line">
            <a:avLst/>
          </a:prstGeom>
          <a:noFill/>
          <a:ln w="9525">
            <a:solidFill>
              <a:schemeClr val="bg1">
                <a:alpha val="25000"/>
              </a:schemeClr>
            </a:solidFill>
            <a:prstDash val="dash"/>
          </a:ln>
        </p:spPr>
      </p:sp>
      <p:sp>
        <p:nvSpPr>
          <p:cNvPr id="17" name="Text 15"/>
          <p:cNvSpPr txBox="1"/>
          <p:nvPr/>
        </p:nvSpPr>
        <p:spPr>
          <a:xfrm>
            <a:off x="9509760" y="224028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2"/>
                </a:solidFill>
              </a:rPr>
              <a:t>8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9509760" y="2651760"/>
            <a:ext cx="0" cy="2880360"/>
          </a:xfrm>
          <a:prstGeom prst="line">
            <a:avLst/>
          </a:prstGeom>
          <a:noFill/>
          <a:ln w="9525">
            <a:solidFill>
              <a:schemeClr val="bg1">
                <a:alpha val="25000"/>
              </a:schemeClr>
            </a:solidFill>
            <a:prstDash val="dash"/>
          </a:ln>
        </p:spPr>
      </p:sp>
      <p:sp>
        <p:nvSpPr>
          <p:cNvPr id="19" name="Text 17"/>
          <p:cNvSpPr txBox="1"/>
          <p:nvPr/>
        </p:nvSpPr>
        <p:spPr>
          <a:xfrm>
            <a:off x="10332720" y="224028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2"/>
                </a:solidFill>
              </a:rPr>
              <a:t>9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10332720" y="2651760"/>
            <a:ext cx="0" cy="2880360"/>
          </a:xfrm>
          <a:prstGeom prst="line">
            <a:avLst/>
          </a:prstGeom>
          <a:noFill/>
          <a:ln w="9525">
            <a:solidFill>
              <a:schemeClr val="bg1">
                <a:alpha val="25000"/>
              </a:schemeClr>
            </a:solidFill>
            <a:prstDash val="dash"/>
          </a:ln>
        </p:spPr>
      </p:sp>
      <p:sp>
        <p:nvSpPr>
          <p:cNvPr id="21" name="Text 19"/>
          <p:cNvSpPr txBox="1"/>
          <p:nvPr/>
        </p:nvSpPr>
        <p:spPr>
          <a:xfrm>
            <a:off x="1005840" y="22402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месяц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1005840" y="274320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5"/>
                </a:solidFill>
              </a:rPr>
              <a:t>Фаза 0  </a:t>
            </a:r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Discovery</a:t>
            </a:r>
            <a:endParaRPr lang="en-US" sz="1400" dirty="0"/>
          </a:p>
        </p:txBody>
      </p:sp>
      <p:sp>
        <p:nvSpPr>
          <p:cNvPr id="23" name="phase bar 0"/>
          <p:cNvSpPr/>
          <p:nvPr/>
        </p:nvSpPr>
        <p:spPr>
          <a:xfrm>
            <a:off x="3749040" y="2788920"/>
            <a:ext cx="822960" cy="365760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 w="12700">
            <a:solidFill>
              <a:schemeClr val="bg1">
                <a:alpha val="60000"/>
              </a:schemeClr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663440" y="27889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интервью, прототип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1005840" y="3310128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Фаза 1  </a:t>
            </a:r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Фундамент + MVP</a:t>
            </a:r>
            <a:endParaRPr lang="en-US" sz="1400" dirty="0"/>
          </a:p>
        </p:txBody>
      </p:sp>
      <p:sp>
        <p:nvSpPr>
          <p:cNvPr id="26" name="phase bar 1"/>
          <p:cNvSpPr/>
          <p:nvPr/>
        </p:nvSpPr>
        <p:spPr>
          <a:xfrm>
            <a:off x="4366260" y="3355848"/>
            <a:ext cx="2468880" cy="36576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bg1">
                <a:alpha val="60000"/>
              </a:schemeClr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4366260" y="335584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10–12 недель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1005840" y="3877056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Фаза 2  </a:t>
            </a:r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Закрытая бета</a:t>
            </a:r>
            <a:endParaRPr lang="en-US" sz="1400" dirty="0"/>
          </a:p>
        </p:txBody>
      </p:sp>
      <p:sp>
        <p:nvSpPr>
          <p:cNvPr id="29" name="phase bar 2"/>
          <p:cNvSpPr/>
          <p:nvPr/>
        </p:nvSpPr>
        <p:spPr>
          <a:xfrm>
            <a:off x="6835140" y="3922776"/>
            <a:ext cx="822960" cy="36576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>
            <a:solidFill>
              <a:schemeClr val="bg1">
                <a:alpha val="60000"/>
              </a:schemeClr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7749540" y="3922776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200–500 человек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1005840" y="4443984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4"/>
                </a:solidFill>
              </a:rPr>
              <a:t>Фаза 3  </a:t>
            </a:r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v1.1 «Город как игра»</a:t>
            </a:r>
            <a:endParaRPr lang="en-US" sz="1400" dirty="0"/>
          </a:p>
        </p:txBody>
      </p:sp>
      <p:sp>
        <p:nvSpPr>
          <p:cNvPr id="32" name="phase bar 3"/>
          <p:cNvSpPr/>
          <p:nvPr/>
        </p:nvSpPr>
        <p:spPr>
          <a:xfrm>
            <a:off x="7658100" y="4489704"/>
            <a:ext cx="1440180" cy="36576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 w="12700">
            <a:solidFill>
              <a:schemeClr val="bg1">
                <a:alpha val="60000"/>
              </a:schemeClr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9189720" y="4489704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6–8 недель</a:t>
            </a:r>
            <a:endParaRPr lang="en-US" sz="1300" dirty="0"/>
          </a:p>
        </p:txBody>
      </p:sp>
      <p:sp>
        <p:nvSpPr>
          <p:cNvPr id="34" name="Text 32"/>
          <p:cNvSpPr txBox="1"/>
          <p:nvPr/>
        </p:nvSpPr>
        <p:spPr>
          <a:xfrm>
            <a:off x="1005840" y="5010912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Фаза 4  </a:t>
            </a:r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v1.2 «Вместе»</a:t>
            </a:r>
            <a:endParaRPr lang="en-US" sz="1400" dirty="0"/>
          </a:p>
        </p:txBody>
      </p:sp>
      <p:sp>
        <p:nvSpPr>
          <p:cNvPr id="35" name="phase bar 4"/>
          <p:cNvSpPr/>
          <p:nvPr/>
        </p:nvSpPr>
        <p:spPr>
          <a:xfrm>
            <a:off x="9098280" y="5056632"/>
            <a:ext cx="2057400" cy="36576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 w="12700">
            <a:solidFill>
              <a:schemeClr val="bg1">
                <a:alpha val="60000"/>
              </a:schemeClr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9098280" y="5056632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8–10 недель</a:t>
            </a:r>
            <a:endParaRPr lang="en-US" sz="1300" dirty="0"/>
          </a:p>
        </p:txBody>
      </p:sp>
      <p:sp>
        <p:nvSpPr>
          <p:cNvPr id="37" name="Text 35"/>
          <p:cNvSpPr txBox="1"/>
          <p:nvPr/>
        </p:nvSpPr>
        <p:spPr>
          <a:xfrm>
            <a:off x="1005840" y="5486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Команда: 2 mobile, 2 backend, дизайнер, QA и PM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D3DAF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640080" y="411480"/>
            <a:ext cx="15407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Приоритизация</a:t>
            </a:r>
            <a:endParaRPr lang="en-US" sz="14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640080" y="86868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RICE решает, что войдёт в MVP</a:t>
            </a:r>
            <a:endParaRPr lang="en-US" sz="3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868680" y="2057400"/>
          <a:ext cx="658368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8321040" y="22860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chemeClr val="accent2"/>
                </a:solidFill>
              </a:rPr>
              <a:t>В MVP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8321040" y="2697480"/>
            <a:ext cx="2834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Дом / работа, Умные сборы, Маршрут до друга, SOS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8321040" y="4114800"/>
            <a:ext cx="28346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</a:rPr>
              <a:t>SOS в MVP выше своего RICE сознательно: это доверие и сильный аргумент в маркетинге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D3DAF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640080" y="411480"/>
            <a:ext cx="14447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05 · Отличия</a:t>
            </a:r>
            <a:endParaRPr lang="en-US" sz="14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640080" y="86868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Чем blinkcode отличается от других</a:t>
            </a:r>
            <a:endParaRPr lang="en-US" sz="3400" dirty="0"/>
          </a:p>
        </p:txBody>
      </p:sp>
      <p:sp>
        <p:nvSpPr>
          <p:cNvPr id="4" name="diff icon 1"/>
          <p:cNvSpPr/>
          <p:nvPr/>
        </p:nvSpPr>
        <p:spPr>
          <a:xfrm>
            <a:off x="960120" y="2240280"/>
            <a:ext cx="685800" cy="68580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bg1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712" y="2404872"/>
            <a:ext cx="356616" cy="35661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828800" y="2240280"/>
            <a:ext cx="3886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chemeClr val="bg1"/>
                </a:solidFill>
              </a:rPr>
              <a:t>Фокус на встрече</a:t>
            </a:r>
            <a:endParaRPr lang="en-US" sz="2100" dirty="0"/>
          </a:p>
        </p:txBody>
      </p:sp>
      <p:sp>
        <p:nvSpPr>
          <p:cNvPr id="7" name="Text 4"/>
          <p:cNvSpPr txBox="1"/>
          <p:nvPr/>
        </p:nvSpPr>
        <p:spPr>
          <a:xfrm>
            <a:off x="960120" y="3017520"/>
            <a:ext cx="4709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</a:rPr>
              <a:t>Live-маршрут, умные сборы и рация закрывают весь путь от «давай увидимся» до «я на месте».</a:t>
            </a:r>
            <a:endParaRPr lang="en-US" sz="1500" dirty="0"/>
          </a:p>
        </p:txBody>
      </p:sp>
      <p:sp>
        <p:nvSpPr>
          <p:cNvPr id="8" name="diff icon 2"/>
          <p:cNvSpPr/>
          <p:nvPr/>
        </p:nvSpPr>
        <p:spPr>
          <a:xfrm>
            <a:off x="6492240" y="2240280"/>
            <a:ext cx="685800" cy="685800"/>
          </a:xfrm>
          <a:prstGeom prst="ellipse">
            <a:avLst/>
          </a:prstGeom>
          <a:solidFill>
            <a:schemeClr val="accent2"/>
          </a:solidFill>
          <a:ln w="19050">
            <a:solidFill>
              <a:schemeClr val="bg1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6832" y="2404872"/>
            <a:ext cx="356616" cy="356616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7360920" y="2240280"/>
            <a:ext cx="3886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chemeClr val="bg1"/>
                </a:solidFill>
              </a:rPr>
              <a:t>Город как игра</a:t>
            </a:r>
            <a:endParaRPr lang="en-US" sz="2100" dirty="0"/>
          </a:p>
        </p:txBody>
      </p:sp>
      <p:sp>
        <p:nvSpPr>
          <p:cNvPr id="11" name="Text 7"/>
          <p:cNvSpPr txBox="1"/>
          <p:nvPr/>
        </p:nvSpPr>
        <p:spPr>
          <a:xfrm>
            <a:off x="6492240" y="3017520"/>
            <a:ext cx="4709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</a:rPr>
              <a:t>Чекины, открытие районов и челленджи с друзьями дают повод открывать приложение каждый день.</a:t>
            </a:r>
            <a:endParaRPr lang="en-US" sz="1500" dirty="0"/>
          </a:p>
        </p:txBody>
      </p:sp>
      <p:sp>
        <p:nvSpPr>
          <p:cNvPr id="12" name="diff icon 3"/>
          <p:cNvSpPr/>
          <p:nvPr/>
        </p:nvSpPr>
        <p:spPr>
          <a:xfrm>
            <a:off x="960120" y="4389120"/>
            <a:ext cx="685800" cy="685800"/>
          </a:xfrm>
          <a:prstGeom prst="ellipse">
            <a:avLst/>
          </a:prstGeom>
          <a:solidFill>
            <a:schemeClr val="accent3"/>
          </a:solidFill>
          <a:ln w="19050">
            <a:solidFill>
              <a:schemeClr val="bg1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4712" y="4553712"/>
            <a:ext cx="356616" cy="356616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828800" y="4389120"/>
            <a:ext cx="3886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chemeClr val="bg1"/>
                </a:solidFill>
              </a:rPr>
              <a:t>SOS без звонка</a:t>
            </a:r>
            <a:endParaRPr lang="en-US" sz="2100" dirty="0"/>
          </a:p>
        </p:txBody>
      </p:sp>
      <p:sp>
        <p:nvSpPr>
          <p:cNvPr id="15" name="Text 10"/>
          <p:cNvSpPr txBox="1"/>
          <p:nvPr/>
        </p:nvSpPr>
        <p:spPr>
          <a:xfrm>
            <a:off x="960120" y="5166360"/>
            <a:ext cx="4709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</a:rPr>
              <a:t>Трём контактам уходит ссылка на live-маршрут на 15 минут — открывается в любом браузере.</a:t>
            </a:r>
            <a:endParaRPr lang="en-US" sz="1500" dirty="0"/>
          </a:p>
        </p:txBody>
      </p:sp>
      <p:sp>
        <p:nvSpPr>
          <p:cNvPr id="16" name="diff icon 4"/>
          <p:cNvSpPr/>
          <p:nvPr/>
        </p:nvSpPr>
        <p:spPr>
          <a:xfrm>
            <a:off x="6492240" y="4389120"/>
            <a:ext cx="685800" cy="685800"/>
          </a:xfrm>
          <a:prstGeom prst="ellipse">
            <a:avLst/>
          </a:prstGeom>
          <a:solidFill>
            <a:schemeClr val="accent4"/>
          </a:solidFill>
          <a:ln w="19050">
            <a:solidFill>
              <a:schemeClr val="bg1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56832" y="4553712"/>
            <a:ext cx="356616" cy="356616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7360920" y="4389120"/>
            <a:ext cx="3886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chemeClr val="bg1"/>
                </a:solidFill>
              </a:rPr>
              <a:t>Приватность и батарея</a:t>
            </a:r>
            <a:endParaRPr lang="en-US" sz="2100" dirty="0"/>
          </a:p>
        </p:txBody>
      </p:sp>
      <p:sp>
        <p:nvSpPr>
          <p:cNvPr id="19" name="Text 13"/>
          <p:cNvSpPr txBox="1"/>
          <p:nvPr/>
        </p:nvSpPr>
        <p:spPr>
          <a:xfrm>
            <a:off x="6492240" y="5166360"/>
            <a:ext cx="4709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</a:rPr>
              <a:t>Точность видимости — для каждого друга отдельно. Расход батареи ≤ 4% в сутки.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D3DAF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640080" y="41148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06 · Риски</a:t>
            </a:r>
            <a:endParaRPr lang="en-US" sz="14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640080" y="86868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Главные риски и как их снять</a:t>
            </a:r>
            <a:endParaRPr lang="en-US" sz="3400" dirty="0"/>
          </a:p>
        </p:txBody>
      </p:sp>
      <p:sp>
        <p:nvSpPr>
          <p:cNvPr id="4" name="risk tag 1"/>
          <p:cNvSpPr/>
          <p:nvPr/>
        </p:nvSpPr>
        <p:spPr>
          <a:xfrm>
            <a:off x="822960" y="2103120"/>
            <a:ext cx="1234440" cy="530352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2103120"/>
            <a:ext cx="1234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Высокий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2331720" y="1920240"/>
            <a:ext cx="32918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bg1"/>
                </a:solidFill>
              </a:rPr>
              <a:t>Холодный старт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5760720" y="1920240"/>
            <a:ext cx="54864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</a:rPr>
              <a:t>Инвайты компаниями, бета группами по 5–10 друзей</a:t>
            </a:r>
            <a:endParaRPr lang="en-US" sz="1500" dirty="0"/>
          </a:p>
        </p:txBody>
      </p:sp>
      <p:sp>
        <p:nvSpPr>
          <p:cNvPr id="8" name="risk tag 2"/>
          <p:cNvSpPr/>
          <p:nvPr/>
        </p:nvSpPr>
        <p:spPr>
          <a:xfrm>
            <a:off x="822960" y="3154680"/>
            <a:ext cx="1234440" cy="530352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22960" y="3154680"/>
            <a:ext cx="1234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Высокий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2331720" y="2971800"/>
            <a:ext cx="32918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bg1"/>
                </a:solidFill>
              </a:rPr>
              <a:t>Батарея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5760720" y="2971800"/>
            <a:ext cx="54864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</a:rPr>
              <a:t>Адаптивная частота геолокации, замер в каждой бете</a:t>
            </a:r>
            <a:endParaRPr lang="en-US" sz="1500" dirty="0"/>
          </a:p>
        </p:txBody>
      </p:sp>
      <p:sp>
        <p:nvSpPr>
          <p:cNvPr id="12" name="risk tag 3"/>
          <p:cNvSpPr/>
          <p:nvPr/>
        </p:nvSpPr>
        <p:spPr>
          <a:xfrm>
            <a:off x="822960" y="4206240"/>
            <a:ext cx="1234440" cy="530352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22960" y="4206240"/>
            <a:ext cx="1234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Средний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2331720" y="4023360"/>
            <a:ext cx="32918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bg1"/>
                </a:solidFill>
              </a:rPr>
              <a:t>Ограничения iOS / Android</a:t>
            </a:r>
            <a:endParaRPr lang="en-US" sz="1900" dirty="0"/>
          </a:p>
        </p:txBody>
      </p:sp>
      <p:sp>
        <p:nvSpPr>
          <p:cNvPr id="15" name="Text 13"/>
          <p:cNvSpPr txBox="1"/>
          <p:nvPr/>
        </p:nvSpPr>
        <p:spPr>
          <a:xfrm>
            <a:off x="5760720" y="4023360"/>
            <a:ext cx="54864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</a:rPr>
              <a:t>Ранние спайки, заявки на разрешения сторов заранее</a:t>
            </a:r>
            <a:endParaRPr lang="en-US" sz="1500" dirty="0"/>
          </a:p>
        </p:txBody>
      </p:sp>
      <p:sp>
        <p:nvSpPr>
          <p:cNvPr id="16" name="risk tag 4"/>
          <p:cNvSpPr/>
          <p:nvPr/>
        </p:nvSpPr>
        <p:spPr>
          <a:xfrm>
            <a:off x="822960" y="5257800"/>
            <a:ext cx="1234440" cy="530352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22960" y="5257800"/>
            <a:ext cx="1234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Средний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2331720" y="5074920"/>
            <a:ext cx="32918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bg1"/>
                </a:solidFill>
              </a:rPr>
              <a:t>Скоуп-крип</a:t>
            </a:r>
            <a:endParaRPr lang="en-US" sz="1900" dirty="0"/>
          </a:p>
        </p:txBody>
      </p:sp>
      <p:sp>
        <p:nvSpPr>
          <p:cNvPr id="19" name="Text 17"/>
          <p:cNvSpPr txBox="1"/>
          <p:nvPr/>
        </p:nvSpPr>
        <p:spPr>
          <a:xfrm>
            <a:off x="5760720" y="5074920"/>
            <a:ext cx="54864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</a:rPr>
              <a:t>Жёсткий MVP, фичи 4 и 6 — только после метрик v1.1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D3DAF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441448" y="2148840"/>
            <a:ext cx="7315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chemeClr val="bg1"/>
                </a:solidFill>
              </a:rPr>
              <a:t>Спасибо!</a:t>
            </a:r>
            <a:endParaRPr lang="en-US" sz="8000" dirty="0"/>
          </a:p>
        </p:txBody>
      </p:sp>
      <p:sp>
        <p:nvSpPr>
          <p:cNvPr id="3" name="Text 1"/>
          <p:cNvSpPr txBox="1"/>
          <p:nvPr/>
        </p:nvSpPr>
        <p:spPr>
          <a:xfrm>
            <a:off x="2441448" y="37490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accent2"/>
                </a:solidFill>
              </a:rPr>
              <a:t>Встречаемся офлайн — без «ты где?»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2441448" y="43891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blinkcode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linkcode Liquid">
  <a:themeElements>
    <a:clrScheme name="blinkcode Liquid">
      <a:dk1>
        <a:srgbClr val="0B1030"/>
      </a:dk1>
      <a:lt1>
        <a:srgbClr val="FFFFFF"/>
      </a:lt1>
      <a:dk2>
        <a:srgbClr val="1E1B4B"/>
      </a:dk2>
      <a:lt2>
        <a:srgbClr val="D3DAF5"/>
      </a:lt2>
      <a:accent1>
        <a:srgbClr val="A78BFA"/>
      </a:accent1>
      <a:accent2>
        <a:srgbClr val="5EEAD4"/>
      </a:accent2>
      <a:accent3>
        <a:srgbClr val="FF7AB8"/>
      </a:accent3>
      <a:accent4>
        <a:srgbClr val="FFC56B"/>
      </a:accent4>
      <a:accent5>
        <a:srgbClr val="7DB4FF"/>
      </a:accent5>
      <a:accent6>
        <a:srgbClr val="6EE7A8"/>
      </a:accent6>
      <a:hlink>
        <a:srgbClr val="7DB4FF"/>
      </a:hlink>
      <a:folHlink>
        <a:srgbClr val="A78BFA"/>
      </a:folHlink>
    </a:clrScheme>
    <a:fontScheme name="blinkcode Liquid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blinkcode — Liquid</dc:title>
  <dc:subject>PptxGenJS Presentation</dc:subject>
  <dc:creator>PptxGenJS</dc:creator>
  <cp:lastModifiedBy>PptxGenJS</cp:lastModifiedBy>
  <cp:revision>1</cp:revision>
  <dcterms:created xsi:type="dcterms:W3CDTF">2026-10-22T16:16:00Z</dcterms:created>
  <dcterms:modified xsi:type="dcterms:W3CDTF">2026-10-22T16:16:00Z</dcterms:modified>
</cp:coreProperties>
</file>