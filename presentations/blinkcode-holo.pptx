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5d50d44e-bff4-a478-af48-246d1dedfb19}">
          <p14:sldIdLst>
            <p14:sldId id="256"/>
          </p14:sldIdLst>
        </p14:section>
        <p14:section name="Проблема и решение" id="{c9636967-f8c4-4017-956d-7e4f2ab94c7b}">
          <p14:sldIdLst>
            <p14:sldId id="257"/>
            <p14:sldId id="258"/>
            <p14:sldId id="259"/>
          </p14:sldIdLst>
        </p14:section>
        <p14:section name="Продукт" id="{199f92d8-12b2-3d3b-623e-a429cbb18f15}">
          <p14:sldIdLst>
            <p14:sldId id="260"/>
            <p14:sldId id="261"/>
          </p14:sldIdLst>
        </p14:section>
        <p14:section name="Управление проектом" id="{327971cd-915c-f74c-f78c-ab0d4dbbe55a}">
          <p14:sldIdLst>
            <p14:sldId id="262"/>
            <p14:sldId id="263"/>
            <p14:sldId id="264"/>
          </p14:sldIdLst>
        </p14:section>
        <p14:section name="Отличия и риски" id="{f60fb5c2-c989-7621-c768-40896a595974}">
          <p14:sldIdLst>
            <p14:sldId id="265"/>
            <p14:sldId id="266"/>
          </p14:sldIdLst>
        </p14:section>
        <p14:section name="Финал" id="{e8740dd8-f4ae-fec2-5f3b-785c78fb711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6A2FD6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6A2FD6"/>
                </a:solidFill>
                <a:latin typeface="+mn-lt"/>
              </a:rPr>
              <a:t>Оценка RICE по фичам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RICE</c:v>
                </c:pt>
              </c:strCache>
            </c:strRef>
          </c:tx>
          <c:spPr>
            <a:solidFill>
              <a:srgbClr val="B566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E1A4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Дом / работа</c:v>
                  </c:pt>
                  <c:pt idx="1">
                    <c:v>Умные сборы</c:v>
                  </c:pt>
                  <c:pt idx="2">
                    <c:v>Маршрут до друга</c:v>
                  </c:pt>
                  <c:pt idx="3">
                    <c:v>SOS</c:v>
                  </c:pt>
                  <c:pt idx="4">
                    <c:v>Стикеры</c:v>
                  </c:pt>
                  <c:pt idx="5">
                    <c:v>Виджет</c:v>
                  </c:pt>
                  <c:pt idx="6">
                    <c:v>Районы</c:v>
                  </c:pt>
                  <c:pt idx="7">
                    <c:v>Челленджи</c:v>
                  </c:pt>
                  <c:pt idx="8">
                    <c:v>Рация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3.6</c:v>
                </c:pt>
                <c:pt idx="1">
                  <c:v>2.95</c:v>
                </c:pt>
                <c:pt idx="2">
                  <c:v>2.49</c:v>
                </c:pt>
                <c:pt idx="3">
                  <c:v>1.53</c:v>
                </c:pt>
                <c:pt idx="4">
                  <c:v>1.2</c:v>
                </c:pt>
                <c:pt idx="5">
                  <c:v>1.17</c:v>
                </c:pt>
                <c:pt idx="6">
                  <c:v>0.86</c:v>
                </c:pt>
                <c:pt idx="7">
                  <c:v>0.44</c:v>
                </c:pt>
                <c:pt idx="8">
                  <c:v>0.26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2E1A4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E1A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blinkcode — социальное гео-приложение для друзей. Рабочее название, финальный бренд — открытый 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lo 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56032"/>
            <a:ext cx="11731752" cy="63459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lo Content 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56032"/>
            <a:ext cx="11731752" cy="63459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i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lo Content 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56032"/>
            <a:ext cx="11731752" cy="63459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i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lo Content 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56032"/>
            <a:ext cx="11731752" cy="63459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i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lo Content 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56032"/>
            <a:ext cx="11731752" cy="63459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i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wl" descr="/tmp/claude-0/-home-user-blinkcode/50a1a0f2-4521-56d8-9cf3-0003dcee5d0b/scratchpad/build/refasse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743200" cy="2254733"/>
          </a:xfrm>
          <a:prstGeom prst="rect">
            <a:avLst/>
          </a:prstGeom>
        </p:spPr>
      </p:pic>
      <p:pic>
        <p:nvPicPr>
          <p:cNvPr id="3" name="spiral" descr="/tmp/claude-0/-home-user-blinkcode/50a1a0f2-4521-56d8-9cf3-0003dcee5d0b/scratchpad/build/refasset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914400"/>
            <a:ext cx="1737360" cy="1634253"/>
          </a:xfrm>
          <a:prstGeom prst="rect">
            <a:avLst/>
          </a:prstGeom>
        </p:spPr>
      </p:pic>
      <p:pic>
        <p:nvPicPr>
          <p:cNvPr id="4" name="flowerY" descr="/tmp/claude-0/-home-user-blinkcode/50a1a0f2-4521-56d8-9cf3-0003dcee5d0b/scratchpad/build/refassets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720000">
            <a:off x="1097280" y="3657600"/>
            <a:ext cx="1417320" cy="1457193"/>
          </a:xfrm>
          <a:prstGeom prst="rect">
            <a:avLst/>
          </a:prstGeom>
        </p:spPr>
      </p:pic>
      <p:pic>
        <p:nvPicPr>
          <p:cNvPr id="5" name="balloons" descr="/tmp/claude-0/-home-user-blinkcode/50a1a0f2-4521-56d8-9cf3-0003dcee5d0b/scratchpad/build/refassets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3611880"/>
            <a:ext cx="2697480" cy="3034665"/>
          </a:xfrm>
          <a:prstGeom prst="rect">
            <a:avLst/>
          </a:prstGeom>
        </p:spPr>
      </p:pic>
      <p:sp>
        <p:nvSpPr>
          <p:cNvPr id="6" name="course pill"/>
          <p:cNvSpPr/>
          <p:nvPr/>
        </p:nvSpPr>
        <p:spPr>
          <a:xfrm>
            <a:off x="2514600" y="777240"/>
            <a:ext cx="2743200" cy="56692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course pill text"/>
          <p:cNvSpPr txBox="1"/>
          <p:nvPr/>
        </p:nvSpPr>
        <p:spPr>
          <a:xfrm>
            <a:off x="2514600" y="777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Проектный менеджмент</a:t>
            </a:r>
            <a:endParaRPr lang="en-US" sz="1500" dirty="0"/>
          </a:p>
        </p:txBody>
      </p:sp>
      <p:sp>
        <p:nvSpPr>
          <p:cNvPr id="8" name="deck title"/>
          <p:cNvSpPr txBox="1"/>
          <p:nvPr/>
        </p:nvSpPr>
        <p:spPr>
          <a:xfrm>
            <a:off x="1371600" y="1508760"/>
            <a:ext cx="9445752" cy="173736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38100" dir="5400000">
              <a:srgbClr val="6A2FD6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0" b="1" i="1" dirty="0">
                <a:solidFill>
                  <a:schemeClr val="bg1"/>
                </a:solidFill>
              </a:rPr>
              <a:t>blinkcode</a:t>
            </a:r>
            <a:endParaRPr lang="en-US" sz="10800" dirty="0"/>
          </a:p>
        </p:txBody>
      </p:sp>
      <p:sp>
        <p:nvSpPr>
          <p:cNvPr id="9" name="tagline pill"/>
          <p:cNvSpPr/>
          <p:nvPr/>
        </p:nvSpPr>
        <p:spPr>
          <a:xfrm>
            <a:off x="3108960" y="3429000"/>
            <a:ext cx="5971032" cy="6583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agline pill text"/>
          <p:cNvSpPr txBox="1"/>
          <p:nvPr/>
        </p:nvSpPr>
        <p:spPr>
          <a:xfrm>
            <a:off x="3108960" y="3429000"/>
            <a:ext cx="5971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Социальное гео-приложение для друзей</a:t>
            </a:r>
            <a:endParaRPr lang="en-US" sz="2200" dirty="0"/>
          </a:p>
        </p:txBody>
      </p:sp>
      <p:sp>
        <p:nvSpPr>
          <p:cNvPr id="11" name="subtitle"/>
          <p:cNvSpPr txBox="1"/>
          <p:nvPr/>
        </p:nvSpPr>
        <p:spPr>
          <a:xfrm>
            <a:off x="2651760" y="4297680"/>
            <a:ext cx="6885432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9050" dir="5400000">
              <a:srgbClr val="6A2FD6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Не просто видеть друзей на карте — а встречаться, исследовать город и приглядывать друг за другом</a:t>
            </a:r>
            <a:endParaRPr lang="en-US" sz="1800" dirty="0"/>
          </a:p>
        </p:txBody>
      </p:sp>
      <p:sp>
        <p:nvSpPr>
          <p:cNvPr id="12" name="motto pill"/>
          <p:cNvSpPr/>
          <p:nvPr/>
        </p:nvSpPr>
        <p:spPr>
          <a:xfrm>
            <a:off x="5120640" y="5532120"/>
            <a:ext cx="4846320" cy="54864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motto pill text"/>
          <p:cNvSpPr txBox="1"/>
          <p:nvPr/>
        </p:nvSpPr>
        <p:spPr>
          <a:xfrm>
            <a:off x="5120640" y="5532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Встречаться · Исследовать · Быть на связи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1984248" y="502920"/>
            <a:ext cx="8229600" cy="868680"/>
          </a:xfrm>
          <a:prstGeom prst="roundRect">
            <a:avLst>
              <a:gd name="adj" fmla="val 31579"/>
            </a:avLst>
          </a:prstGeom>
          <a:solidFill>
            <a:schemeClr val="accent4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1. Карты друзей отвечают лишь на «где ты?»</a:t>
            </a:r>
            <a:endParaRPr lang="en-US" sz="2600" dirty="0"/>
          </a:p>
        </p:txBody>
      </p:sp>
      <p:pic>
        <p:nvPicPr>
          <p:cNvPr id="4" name="heart" descr="/tmp/claude-0/-home-user-blinkcode/50a1a0f2-4521-56d8-9cf3-0003dcee5d0b/scratchpad/build/ref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5720"/>
            <a:ext cx="1417320" cy="1434710"/>
          </a:xfrm>
          <a:prstGeom prst="rect">
            <a:avLst/>
          </a:prstGeom>
        </p:spPr>
      </p:pic>
      <p:pic>
        <p:nvPicPr>
          <p:cNvPr id="5" name="star" descr="/tmp/claude-0/-home-user-blinkcode/50a1a0f2-4521-56d8-9cf3-0003dcee5d0b/scratchpad/build/refassets/image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0">
            <a:off x="10835640" y="5440680"/>
            <a:ext cx="1143000" cy="1112184"/>
          </a:xfrm>
          <a:prstGeom prst="rect">
            <a:avLst/>
          </a:prstGeom>
        </p:spPr>
      </p:pic>
      <p:sp>
        <p:nvSpPr>
          <p:cNvPr id="6" name="problem card 1"/>
          <p:cNvSpPr/>
          <p:nvPr/>
        </p:nvSpPr>
        <p:spPr>
          <a:xfrm>
            <a:off x="868680" y="1920240"/>
            <a:ext cx="3246120" cy="3931920"/>
          </a:xfrm>
          <a:prstGeom prst="roundRect">
            <a:avLst>
              <a:gd name="adj" fmla="val 6197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7" name="number 1"/>
          <p:cNvSpPr/>
          <p:nvPr/>
        </p:nvSpPr>
        <p:spPr>
          <a:xfrm>
            <a:off x="1188720" y="2286000"/>
            <a:ext cx="685800" cy="6858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18872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3154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chemeClr val="tx2"/>
                </a:solidFill>
              </a:rPr>
              <a:t>Встретиться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4069080"/>
            <a:ext cx="2606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Договориться о точке и времени, понять, кто опаздывает, дойти до друга, который сам движется.</a:t>
            </a:r>
            <a:endParaRPr lang="en-US" sz="1600" dirty="0"/>
          </a:p>
        </p:txBody>
      </p:sp>
      <p:sp>
        <p:nvSpPr>
          <p:cNvPr id="11" name="problem card 2"/>
          <p:cNvSpPr/>
          <p:nvPr/>
        </p:nvSpPr>
        <p:spPr>
          <a:xfrm>
            <a:off x="4453128" y="1920240"/>
            <a:ext cx="3246120" cy="3931920"/>
          </a:xfrm>
          <a:prstGeom prst="roundRect">
            <a:avLst>
              <a:gd name="adj" fmla="val 6197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2" name="number 2"/>
          <p:cNvSpPr/>
          <p:nvPr/>
        </p:nvSpPr>
        <p:spPr>
          <a:xfrm>
            <a:off x="4773168" y="2286000"/>
            <a:ext cx="685800" cy="6858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73168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773168" y="3154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chemeClr val="tx2"/>
                </a:solidFill>
              </a:rPr>
              <a:t>Делать что-то вместе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773168" y="4069080"/>
            <a:ext cx="2606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Карта друзей статична: посмотрел и закрыл. Нет причины открывать приложение каждый день.</a:t>
            </a:r>
            <a:endParaRPr lang="en-US" sz="1600" dirty="0"/>
          </a:p>
        </p:txBody>
      </p:sp>
      <p:sp>
        <p:nvSpPr>
          <p:cNvPr id="16" name="problem card 3"/>
          <p:cNvSpPr/>
          <p:nvPr/>
        </p:nvSpPr>
        <p:spPr>
          <a:xfrm>
            <a:off x="8037576" y="1920240"/>
            <a:ext cx="3246120" cy="3931920"/>
          </a:xfrm>
          <a:prstGeom prst="roundRect">
            <a:avLst>
              <a:gd name="adj" fmla="val 6197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7" name="number 3"/>
          <p:cNvSpPr/>
          <p:nvPr/>
        </p:nvSpPr>
        <p:spPr>
          <a:xfrm>
            <a:off x="8357616" y="2286000"/>
            <a:ext cx="685800" cy="6858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57616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8357616" y="3154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chemeClr val="tx2"/>
                </a:solidFill>
              </a:rPr>
              <a:t>Быть в безопасности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8357616" y="4069080"/>
            <a:ext cx="2606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Шаринг геолокации есть, но в стрессовой ситуации им неудобно пользоваться.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1984248" y="502920"/>
            <a:ext cx="8229600" cy="868680"/>
          </a:xfrm>
          <a:prstGeom prst="roundRect">
            <a:avLst>
              <a:gd name="adj" fmla="val 31579"/>
            </a:avLst>
          </a:prstGeom>
          <a:solidFill>
            <a:schemeClr val="accent4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2. Карта друзей + три слоя поверх неё</a:t>
            </a:r>
            <a:endParaRPr lang="en-US" sz="2600" dirty="0"/>
          </a:p>
        </p:txBody>
      </p:sp>
      <p:pic>
        <p:nvPicPr>
          <p:cNvPr id="4" name="spiral" descr="/tmp/claude-0/-home-user-blinkcode/50a1a0f2-4521-56d8-9cf3-0003dcee5d0b/scratchpad/build/refasset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37160"/>
            <a:ext cx="1234440" cy="1161179"/>
          </a:xfrm>
          <a:prstGeom prst="rect">
            <a:avLst/>
          </a:prstGeom>
        </p:spPr>
      </p:pic>
      <p:pic>
        <p:nvPicPr>
          <p:cNvPr id="5" name="flowerO" descr="/tmp/claude-0/-home-user-blinkcode/50a1a0f2-4521-56d8-9cf3-0003dcee5d0b/scratchpad/build/refassets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0">
            <a:off x="10744200" y="91440"/>
            <a:ext cx="1188720" cy="1224129"/>
          </a:xfrm>
          <a:prstGeom prst="rect">
            <a:avLst/>
          </a:prstGeom>
        </p:spPr>
      </p:pic>
      <p:sp>
        <p:nvSpPr>
          <p:cNvPr id="6" name="layer card 1"/>
          <p:cNvSpPr/>
          <p:nvPr/>
        </p:nvSpPr>
        <p:spPr>
          <a:xfrm>
            <a:off x="868680" y="1828800"/>
            <a:ext cx="3246120" cy="4160520"/>
          </a:xfrm>
          <a:prstGeom prst="roundRect">
            <a:avLst>
              <a:gd name="adj" fmla="val 6197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7" name="layer 1"/>
          <p:cNvSpPr/>
          <p:nvPr/>
        </p:nvSpPr>
        <p:spPr>
          <a:xfrm>
            <a:off x="1143000" y="2103120"/>
            <a:ext cx="2697480" cy="5669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layer 1 text"/>
          <p:cNvSpPr txBox="1"/>
          <p:nvPr/>
        </p:nvSpPr>
        <p:spPr>
          <a:xfrm>
            <a:off x="1143000" y="21031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Встречи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288036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Маршрут до друга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Умные сборы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Режим рации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4754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Собраться без переписки «ты где?»</a:t>
            </a:r>
            <a:endParaRPr lang="en-US" sz="1500" dirty="0"/>
          </a:p>
        </p:txBody>
      </p:sp>
      <p:sp>
        <p:nvSpPr>
          <p:cNvPr id="11" name="layer card 2"/>
          <p:cNvSpPr/>
          <p:nvPr/>
        </p:nvSpPr>
        <p:spPr>
          <a:xfrm>
            <a:off x="4453128" y="1828800"/>
            <a:ext cx="3246120" cy="4160520"/>
          </a:xfrm>
          <a:prstGeom prst="roundRect">
            <a:avLst>
              <a:gd name="adj" fmla="val 6197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2" name="layer 2"/>
          <p:cNvSpPr/>
          <p:nvPr/>
        </p:nvSpPr>
        <p:spPr>
          <a:xfrm>
            <a:off x="4727448" y="2103120"/>
            <a:ext cx="2697480" cy="56692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layer 2 text"/>
          <p:cNvSpPr txBox="1"/>
          <p:nvPr/>
        </p:nvSpPr>
        <p:spPr>
          <a:xfrm>
            <a:off x="4727448" y="21031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Город как игра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727448" y="288036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Чекины и районы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Челленджи и блинкисы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Стикеры на карте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727448" y="4754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Ежедневная причина открыть приложение</a:t>
            </a:r>
            <a:endParaRPr lang="en-US" sz="1500" dirty="0"/>
          </a:p>
        </p:txBody>
      </p:sp>
      <p:sp>
        <p:nvSpPr>
          <p:cNvPr id="16" name="layer card 3"/>
          <p:cNvSpPr/>
          <p:nvPr/>
        </p:nvSpPr>
        <p:spPr>
          <a:xfrm>
            <a:off x="8037576" y="1828800"/>
            <a:ext cx="3246120" cy="4160520"/>
          </a:xfrm>
          <a:prstGeom prst="roundRect">
            <a:avLst>
              <a:gd name="adj" fmla="val 6197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7" name="layer 3"/>
          <p:cNvSpPr/>
          <p:nvPr/>
        </p:nvSpPr>
        <p:spPr>
          <a:xfrm>
            <a:off x="8311896" y="2103120"/>
            <a:ext cx="2697480" cy="56692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layer 3 text"/>
          <p:cNvSpPr txBox="1"/>
          <p:nvPr/>
        </p:nvSpPr>
        <p:spPr>
          <a:xfrm>
            <a:off x="8311896" y="21031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Безопасность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8311896" y="288036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SOS с live-трансляцией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Виджет с друзьями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Импорт мест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8311896" y="4754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Доверие и ценность без открытия приложения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1984248" y="502920"/>
            <a:ext cx="8229600" cy="868680"/>
          </a:xfrm>
          <a:prstGeom prst="roundRect">
            <a:avLst>
              <a:gd name="adj" fmla="val 31579"/>
            </a:avLst>
          </a:prstGeom>
          <a:solidFill>
            <a:schemeClr val="accent4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Сценарий «Умный сбор»: от идеи до встречи</a:t>
            </a:r>
            <a:endParaRPr lang="en-US" sz="2600" dirty="0"/>
          </a:p>
        </p:txBody>
      </p:sp>
      <p:pic>
        <p:nvPicPr>
          <p:cNvPr id="4" name="megaphone" descr="/tmp/claude-0/-home-user-blinkcode/50a1a0f2-4521-56d8-9cf3-0003dcee5d0b/scratchpad/build/ref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480000">
            <a:off x="10378440" y="4297680"/>
            <a:ext cx="1691640" cy="2050268"/>
          </a:xfrm>
          <a:prstGeom prst="rect">
            <a:avLst/>
          </a:prstGeom>
        </p:spPr>
      </p:pic>
      <p:sp>
        <p:nvSpPr>
          <p:cNvPr id="5" name="path hub"/>
          <p:cNvSpPr/>
          <p:nvPr/>
        </p:nvSpPr>
        <p:spPr>
          <a:xfrm>
            <a:off x="777240" y="2606040"/>
            <a:ext cx="2148840" cy="2148840"/>
          </a:xfrm>
          <a:prstGeom prst="ellipse">
            <a:avLst/>
          </a:prstGeom>
          <a:solidFill>
            <a:schemeClr val="bg1">
              <a:alpha val="92000"/>
            </a:schemeClr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" y="297180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Путь использования</a:t>
            </a:r>
            <a:endParaRPr lang="en-US" sz="2000" dirty="0"/>
          </a:p>
        </p:txBody>
      </p:sp>
      <p:sp>
        <p:nvSpPr>
          <p:cNvPr id="7" name="connector 1"/>
          <p:cNvSpPr/>
          <p:nvPr/>
        </p:nvSpPr>
        <p:spPr>
          <a:xfrm flipV="1">
            <a:off x="2926080" y="2125980"/>
            <a:ext cx="502920" cy="1549908"/>
          </a:xfrm>
          <a:prstGeom prst="line">
            <a:avLst/>
          </a:prstGeom>
          <a:noFill/>
          <a:ln w="31750">
            <a:solidFill>
              <a:schemeClr val="bg1"/>
            </a:solidFill>
            <a:prstDash val="solid"/>
          </a:ln>
        </p:spPr>
      </p:sp>
      <p:sp>
        <p:nvSpPr>
          <p:cNvPr id="8" name="connector 2"/>
          <p:cNvSpPr/>
          <p:nvPr/>
        </p:nvSpPr>
        <p:spPr>
          <a:xfrm flipV="1">
            <a:off x="2926080" y="3177540"/>
            <a:ext cx="960120" cy="498348"/>
          </a:xfrm>
          <a:prstGeom prst="line">
            <a:avLst/>
          </a:prstGeom>
          <a:noFill/>
          <a:ln w="31750">
            <a:solidFill>
              <a:schemeClr val="bg1"/>
            </a:solidFill>
            <a:prstDash val="solid"/>
          </a:ln>
        </p:spPr>
      </p:sp>
      <p:sp>
        <p:nvSpPr>
          <p:cNvPr id="9" name="connector 3"/>
          <p:cNvSpPr/>
          <p:nvPr/>
        </p:nvSpPr>
        <p:spPr>
          <a:xfrm>
            <a:off x="2926080" y="3675888"/>
            <a:ext cx="960120" cy="553212"/>
          </a:xfrm>
          <a:prstGeom prst="line">
            <a:avLst/>
          </a:prstGeom>
          <a:noFill/>
          <a:ln w="31750">
            <a:solidFill>
              <a:schemeClr val="bg1"/>
            </a:solidFill>
            <a:prstDash val="solid"/>
          </a:ln>
        </p:spPr>
      </p:sp>
      <p:sp>
        <p:nvSpPr>
          <p:cNvPr id="10" name="connector 4"/>
          <p:cNvSpPr/>
          <p:nvPr/>
        </p:nvSpPr>
        <p:spPr>
          <a:xfrm>
            <a:off x="2926080" y="3675888"/>
            <a:ext cx="502920" cy="1604772"/>
          </a:xfrm>
          <a:prstGeom prst="line">
            <a:avLst/>
          </a:prstGeom>
          <a:noFill/>
          <a:ln w="31750">
            <a:solidFill>
              <a:schemeClr val="bg1"/>
            </a:solidFill>
            <a:prstDash val="solid"/>
          </a:ln>
        </p:spPr>
      </p:sp>
      <p:sp>
        <p:nvSpPr>
          <p:cNvPr id="11" name="step 1"/>
          <p:cNvSpPr/>
          <p:nvPr/>
        </p:nvSpPr>
        <p:spPr>
          <a:xfrm>
            <a:off x="3429000" y="1691640"/>
            <a:ext cx="6583680" cy="868680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2" name="number 1"/>
          <p:cNvSpPr/>
          <p:nvPr/>
        </p:nvSpPr>
        <p:spPr>
          <a:xfrm>
            <a:off x="3520440" y="1783080"/>
            <a:ext cx="685800" cy="6858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04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1728216"/>
            <a:ext cx="5394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Создаёт сбор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Точка, время и друзья — за 10 секунд, не больше 3 шагов</a:t>
            </a:r>
            <a:endParaRPr lang="en-US" sz="1700" dirty="0"/>
          </a:p>
        </p:txBody>
      </p:sp>
      <p:sp>
        <p:nvSpPr>
          <p:cNvPr id="15" name="step 2"/>
          <p:cNvSpPr/>
          <p:nvPr/>
        </p:nvSpPr>
        <p:spPr>
          <a:xfrm>
            <a:off x="3886200" y="2743200"/>
            <a:ext cx="6583680" cy="868680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6" name="number 2"/>
          <p:cNvSpPr/>
          <p:nvPr/>
        </p:nvSpPr>
        <p:spPr>
          <a:xfrm>
            <a:off x="3977640" y="2834640"/>
            <a:ext cx="685800" cy="6858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77640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779776"/>
            <a:ext cx="5394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Друзья отвечают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Один тап «Иду», ETA считается сам по маршруту</a:t>
            </a:r>
            <a:endParaRPr lang="en-US" sz="1700" dirty="0"/>
          </a:p>
        </p:txBody>
      </p:sp>
      <p:sp>
        <p:nvSpPr>
          <p:cNvPr id="19" name="step 3"/>
          <p:cNvSpPr/>
          <p:nvPr/>
        </p:nvSpPr>
        <p:spPr>
          <a:xfrm>
            <a:off x="3886200" y="3794760"/>
            <a:ext cx="6583680" cy="868680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20" name="number 3"/>
          <p:cNvSpPr/>
          <p:nvPr/>
        </p:nvSpPr>
        <p:spPr>
          <a:xfrm>
            <a:off x="3977640" y="3886200"/>
            <a:ext cx="685800" cy="6858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77640" y="3886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3831336"/>
            <a:ext cx="5394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Идут к точке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Live-маршрут до друга, статусы «В пути», «Опоздаю на 10 мин»</a:t>
            </a:r>
            <a:endParaRPr lang="en-US" sz="1700" dirty="0"/>
          </a:p>
        </p:txBody>
      </p:sp>
      <p:sp>
        <p:nvSpPr>
          <p:cNvPr id="23" name="step 4"/>
          <p:cNvSpPr/>
          <p:nvPr/>
        </p:nvSpPr>
        <p:spPr>
          <a:xfrm>
            <a:off x="3429000" y="4846320"/>
            <a:ext cx="6583680" cy="868680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24" name="number 4"/>
          <p:cNvSpPr/>
          <p:nvPr/>
        </p:nvSpPr>
        <p:spPr>
          <a:xfrm>
            <a:off x="3520440" y="4937760"/>
            <a:ext cx="685800" cy="6858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520440" y="4937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4389120" y="4882896"/>
            <a:ext cx="5394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Встреча состоялась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Вход в геозону 100 м — статус «На месте» ставится сам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1984248" y="502920"/>
            <a:ext cx="8229600" cy="868680"/>
          </a:xfrm>
          <a:prstGeom prst="roundRect">
            <a:avLst>
              <a:gd name="adj" fmla="val 31579"/>
            </a:avLst>
          </a:prstGeom>
          <a:solidFill>
            <a:schemeClr val="accent4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Девять фич в трёх релизах</a:t>
            </a:r>
            <a:endParaRPr lang="en-US" sz="2600" dirty="0"/>
          </a:p>
        </p:txBody>
      </p:sp>
      <p:pic>
        <p:nvPicPr>
          <p:cNvPr id="4" name="balloons" descr="/tmp/claude-0/-home-user-blinkcode/50a1a0f2-4521-56d8-9cf3-0003dcee5d0b/scratchpad/build/refasset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251960"/>
            <a:ext cx="1783080" cy="2005965"/>
          </a:xfrm>
          <a:prstGeom prst="rect">
            <a:avLst/>
          </a:prstGeom>
        </p:spPr>
      </p:pic>
      <p:pic>
        <p:nvPicPr>
          <p:cNvPr id="5" name="flowerY" descr="/tmp/claude-0/-home-user-blinkcode/50a1a0f2-4521-56d8-9cf3-0003dcee5d0b/scratchpad/build/refasset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0">
            <a:off x="137160" y="182880"/>
            <a:ext cx="1143000" cy="1175156"/>
          </a:xfrm>
          <a:prstGeom prst="rect">
            <a:avLst/>
          </a:prstGeom>
        </p:spPr>
      </p:pic>
      <p:sp>
        <p:nvSpPr>
          <p:cNvPr id="6" name="release MVP"/>
          <p:cNvSpPr/>
          <p:nvPr/>
        </p:nvSpPr>
        <p:spPr>
          <a:xfrm>
            <a:off x="868680" y="1828800"/>
            <a:ext cx="3017520" cy="6035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release MVP text"/>
          <p:cNvSpPr txBox="1"/>
          <p:nvPr/>
        </p:nvSpPr>
        <p:spPr>
          <a:xfrm>
            <a:off x="868680" y="18288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MVP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сценарий «встретиться» и безопасность</a:t>
            </a:r>
            <a:endParaRPr lang="en-US" sz="1400" dirty="0"/>
          </a:p>
        </p:txBody>
      </p:sp>
      <p:sp>
        <p:nvSpPr>
          <p:cNvPr id="9" name="feature 1"/>
          <p:cNvSpPr/>
          <p:nvPr/>
        </p:nvSpPr>
        <p:spPr>
          <a:xfrm>
            <a:off x="868680" y="3154680"/>
            <a:ext cx="3017520" cy="694944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0" name="number 1"/>
          <p:cNvSpPr/>
          <p:nvPr/>
        </p:nvSpPr>
        <p:spPr>
          <a:xfrm>
            <a:off x="941832" y="3227832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41832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618488" y="3154680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Маршрут до друга</a:t>
            </a:r>
            <a:endParaRPr lang="en-US" sz="1600" dirty="0"/>
          </a:p>
        </p:txBody>
      </p:sp>
      <p:sp>
        <p:nvSpPr>
          <p:cNvPr id="13" name="feature 2"/>
          <p:cNvSpPr/>
          <p:nvPr/>
        </p:nvSpPr>
        <p:spPr>
          <a:xfrm>
            <a:off x="868680" y="3995928"/>
            <a:ext cx="3017520" cy="694944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4" name="number 2"/>
          <p:cNvSpPr/>
          <p:nvPr/>
        </p:nvSpPr>
        <p:spPr>
          <a:xfrm>
            <a:off x="941832" y="406908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41832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618488" y="3995928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Умные сборы</a:t>
            </a:r>
            <a:endParaRPr lang="en-US" sz="1600" dirty="0"/>
          </a:p>
        </p:txBody>
      </p:sp>
      <p:sp>
        <p:nvSpPr>
          <p:cNvPr id="17" name="feature 7"/>
          <p:cNvSpPr/>
          <p:nvPr/>
        </p:nvSpPr>
        <p:spPr>
          <a:xfrm>
            <a:off x="868680" y="4837176"/>
            <a:ext cx="3017520" cy="694944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8" name="number 7"/>
          <p:cNvSpPr/>
          <p:nvPr/>
        </p:nvSpPr>
        <p:spPr>
          <a:xfrm>
            <a:off x="941832" y="491032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41832" y="4910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618488" y="4837176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SOS с live-трансляцией</a:t>
            </a:r>
            <a:endParaRPr lang="en-US" sz="1600" dirty="0"/>
          </a:p>
        </p:txBody>
      </p:sp>
      <p:sp>
        <p:nvSpPr>
          <p:cNvPr id="21" name="feature 9"/>
          <p:cNvSpPr/>
          <p:nvPr/>
        </p:nvSpPr>
        <p:spPr>
          <a:xfrm>
            <a:off x="868680" y="5678424"/>
            <a:ext cx="3017520" cy="694944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22" name="number 9"/>
          <p:cNvSpPr/>
          <p:nvPr/>
        </p:nvSpPr>
        <p:spPr>
          <a:xfrm>
            <a:off x="941832" y="5751576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41832" y="5751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618488" y="5678424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Дом / работа и места</a:t>
            </a:r>
            <a:endParaRPr lang="en-US" sz="1600" dirty="0"/>
          </a:p>
        </p:txBody>
      </p:sp>
      <p:sp>
        <p:nvSpPr>
          <p:cNvPr id="25" name="release v1.1"/>
          <p:cNvSpPr/>
          <p:nvPr/>
        </p:nvSpPr>
        <p:spPr>
          <a:xfrm>
            <a:off x="4160520" y="1828800"/>
            <a:ext cx="3017520" cy="6035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release v1.1 text"/>
          <p:cNvSpPr txBox="1"/>
          <p:nvPr/>
        </p:nvSpPr>
        <p:spPr>
          <a:xfrm>
            <a:off x="4160520" y="18288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v1.1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416052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ежедневное вовлечение</a:t>
            </a:r>
            <a:endParaRPr lang="en-US" sz="1400" dirty="0"/>
          </a:p>
        </p:txBody>
      </p:sp>
      <p:sp>
        <p:nvSpPr>
          <p:cNvPr id="28" name="feature 3"/>
          <p:cNvSpPr/>
          <p:nvPr/>
        </p:nvSpPr>
        <p:spPr>
          <a:xfrm>
            <a:off x="4160520" y="3154680"/>
            <a:ext cx="3017520" cy="694944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29" name="number 3"/>
          <p:cNvSpPr/>
          <p:nvPr/>
        </p:nvSpPr>
        <p:spPr>
          <a:xfrm>
            <a:off x="4233672" y="3227832"/>
            <a:ext cx="548640" cy="5486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233672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4910328" y="3154680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Чекины и районы</a:t>
            </a:r>
            <a:endParaRPr lang="en-US" sz="1600" dirty="0"/>
          </a:p>
        </p:txBody>
      </p:sp>
      <p:sp>
        <p:nvSpPr>
          <p:cNvPr id="32" name="feature 5"/>
          <p:cNvSpPr/>
          <p:nvPr/>
        </p:nvSpPr>
        <p:spPr>
          <a:xfrm>
            <a:off x="4160520" y="3995928"/>
            <a:ext cx="3017520" cy="694944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33" name="number 5"/>
          <p:cNvSpPr/>
          <p:nvPr/>
        </p:nvSpPr>
        <p:spPr>
          <a:xfrm>
            <a:off x="4233672" y="4069080"/>
            <a:ext cx="548640" cy="5486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233672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4910328" y="3995928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Стикеры на карте</a:t>
            </a:r>
            <a:endParaRPr lang="en-US" sz="1600" dirty="0"/>
          </a:p>
        </p:txBody>
      </p:sp>
      <p:sp>
        <p:nvSpPr>
          <p:cNvPr id="36" name="feature 8"/>
          <p:cNvSpPr/>
          <p:nvPr/>
        </p:nvSpPr>
        <p:spPr>
          <a:xfrm>
            <a:off x="4160520" y="4837176"/>
            <a:ext cx="3017520" cy="694944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37" name="number 8"/>
          <p:cNvSpPr/>
          <p:nvPr/>
        </p:nvSpPr>
        <p:spPr>
          <a:xfrm>
            <a:off x="4233672" y="4910328"/>
            <a:ext cx="548640" cy="5486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233672" y="4910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4910328" y="4837176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Виджет с друзьями</a:t>
            </a:r>
            <a:endParaRPr lang="en-US" sz="1600" dirty="0"/>
          </a:p>
        </p:txBody>
      </p:sp>
      <p:sp>
        <p:nvSpPr>
          <p:cNvPr id="40" name="release v1.2"/>
          <p:cNvSpPr/>
          <p:nvPr/>
        </p:nvSpPr>
        <p:spPr>
          <a:xfrm>
            <a:off x="7452360" y="1828800"/>
            <a:ext cx="3017520" cy="6035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release v1.2 text"/>
          <p:cNvSpPr txBox="1"/>
          <p:nvPr/>
        </p:nvSpPr>
        <p:spPr>
          <a:xfrm>
            <a:off x="7452360" y="18288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v1.2</a:t>
            </a:r>
            <a:endParaRPr lang="en-US" sz="2200" dirty="0"/>
          </a:p>
        </p:txBody>
      </p:sp>
      <p:sp>
        <p:nvSpPr>
          <p:cNvPr id="42" name="Text 38"/>
          <p:cNvSpPr txBox="1"/>
          <p:nvPr/>
        </p:nvSpPr>
        <p:spPr>
          <a:xfrm>
            <a:off x="745236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дорогие и рискованные фичи</a:t>
            </a:r>
            <a:endParaRPr lang="en-US" sz="1400" dirty="0"/>
          </a:p>
        </p:txBody>
      </p:sp>
      <p:sp>
        <p:nvSpPr>
          <p:cNvPr id="43" name="feature 4"/>
          <p:cNvSpPr/>
          <p:nvPr/>
        </p:nvSpPr>
        <p:spPr>
          <a:xfrm>
            <a:off x="7452360" y="3154680"/>
            <a:ext cx="3017520" cy="694944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44" name="number 4"/>
          <p:cNvSpPr/>
          <p:nvPr/>
        </p:nvSpPr>
        <p:spPr>
          <a:xfrm>
            <a:off x="7525512" y="3227832"/>
            <a:ext cx="548640" cy="54864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525512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46" name="Text 42"/>
          <p:cNvSpPr txBox="1"/>
          <p:nvPr/>
        </p:nvSpPr>
        <p:spPr>
          <a:xfrm>
            <a:off x="8202168" y="3154680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Челленджи и блинкисы</a:t>
            </a:r>
            <a:endParaRPr lang="en-US" sz="1600" dirty="0"/>
          </a:p>
        </p:txBody>
      </p:sp>
      <p:sp>
        <p:nvSpPr>
          <p:cNvPr id="47" name="feature 6"/>
          <p:cNvSpPr/>
          <p:nvPr/>
        </p:nvSpPr>
        <p:spPr>
          <a:xfrm>
            <a:off x="7452360" y="3995928"/>
            <a:ext cx="3017520" cy="694944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48" name="number 6"/>
          <p:cNvSpPr/>
          <p:nvPr/>
        </p:nvSpPr>
        <p:spPr>
          <a:xfrm>
            <a:off x="7525512" y="4069080"/>
            <a:ext cx="548640" cy="54864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7525512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50" name="Text 46"/>
          <p:cNvSpPr txBox="1"/>
          <p:nvPr/>
        </p:nvSpPr>
        <p:spPr>
          <a:xfrm>
            <a:off x="8202168" y="3995928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Режим рации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1984248" y="502920"/>
            <a:ext cx="8229600" cy="868680"/>
          </a:xfrm>
          <a:prstGeom prst="roundRect">
            <a:avLst>
              <a:gd name="adj" fmla="val 31579"/>
            </a:avLst>
          </a:prstGeom>
          <a:solidFill>
            <a:schemeClr val="accent4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Главная метрика — реальные встречи</a:t>
            </a:r>
            <a:endParaRPr lang="en-US" sz="2600" dirty="0"/>
          </a:p>
        </p:txBody>
      </p:sp>
      <p:pic>
        <p:nvPicPr>
          <p:cNvPr id="4" name="thumbs" descr="/tmp/claude-0/-home-user-blinkcode/50a1a0f2-4521-56d8-9cf3-0003dcee5d0b/scratchpad/build/refassets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600000">
            <a:off x="45720" y="5486400"/>
            <a:ext cx="1143000" cy="1167581"/>
          </a:xfrm>
          <a:prstGeom prst="rect">
            <a:avLst/>
          </a:prstGeom>
        </p:spPr>
      </p:pic>
      <p:pic>
        <p:nvPicPr>
          <p:cNvPr id="5" name="star" descr="/tmp/claude-0/-home-user-blinkcode/50a1a0f2-4521-56d8-9cf3-0003dcee5d0b/scratchpad/build/refassets/image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37160"/>
            <a:ext cx="1097280" cy="1067696"/>
          </a:xfrm>
          <a:prstGeom prst="rect">
            <a:avLst/>
          </a:prstGeom>
        </p:spPr>
      </p:pic>
      <p:sp>
        <p:nvSpPr>
          <p:cNvPr id="6" name="north star card"/>
          <p:cNvSpPr/>
          <p:nvPr/>
        </p:nvSpPr>
        <p:spPr>
          <a:xfrm>
            <a:off x="868680" y="1828800"/>
            <a:ext cx="4846320" cy="4160520"/>
          </a:xfrm>
          <a:prstGeom prst="roundRect">
            <a:avLst>
              <a:gd name="adj" fmla="val 4835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7" name="north star pill"/>
          <p:cNvSpPr/>
          <p:nvPr/>
        </p:nvSpPr>
        <p:spPr>
          <a:xfrm>
            <a:off x="1188720" y="2103120"/>
            <a:ext cx="2103120" cy="51206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north star pill text"/>
          <p:cNvSpPr txBox="1"/>
          <p:nvPr/>
        </p:nvSpPr>
        <p:spPr>
          <a:xfrm>
            <a:off x="1188720" y="21031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North Star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278892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tx2"/>
                </a:solidFill>
              </a:rPr>
              <a:t>Офлайн-встречи в неделю на активного пользователя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4206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Сбор засчитан, когда участники реально пришли в точку (по геозоне)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49377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Аудитория: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16–25 лет, компании друзей в большом городе, часто встречаются офлайн</a:t>
            </a:r>
            <a:endParaRPr lang="en-US" sz="1400" dirty="0"/>
          </a:p>
        </p:txBody>
      </p:sp>
      <p:sp>
        <p:nvSpPr>
          <p:cNvPr id="12" name="metric 1"/>
          <p:cNvSpPr/>
          <p:nvPr/>
        </p:nvSpPr>
        <p:spPr>
          <a:xfrm>
            <a:off x="6035040" y="1828800"/>
            <a:ext cx="246888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217920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1"/>
                </a:solidFill>
              </a:rPr>
              <a:t>45 / 25 / 15%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2834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Retention D1 / D7 / D30</a:t>
            </a:r>
            <a:endParaRPr lang="en-US" sz="1400" dirty="0"/>
          </a:p>
        </p:txBody>
      </p:sp>
      <p:sp>
        <p:nvSpPr>
          <p:cNvPr id="15" name="metric 2"/>
          <p:cNvSpPr/>
          <p:nvPr/>
        </p:nvSpPr>
        <p:spPr>
          <a:xfrm>
            <a:off x="8732520" y="1828800"/>
            <a:ext cx="246888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915400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chemeClr val="accent5"/>
                </a:solidFill>
              </a:rPr>
              <a:t>≥ 50%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8915400" y="2834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пользователей с 3+ друзьями через 7 дней</a:t>
            </a:r>
            <a:endParaRPr lang="en-US" sz="1400" dirty="0"/>
          </a:p>
        </p:txBody>
      </p:sp>
      <p:sp>
        <p:nvSpPr>
          <p:cNvPr id="18" name="metric 3"/>
          <p:cNvSpPr/>
          <p:nvPr/>
        </p:nvSpPr>
        <p:spPr>
          <a:xfrm>
            <a:off x="6035040" y="3977640"/>
            <a:ext cx="246888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217920" y="4160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chemeClr val="accent1"/>
                </a:solidFill>
              </a:rPr>
              <a:t>≥ 60%</a:t>
            </a:r>
            <a:endParaRPr lang="en-US" sz="3400" dirty="0"/>
          </a:p>
        </p:txBody>
      </p:sp>
      <p:sp>
        <p:nvSpPr>
          <p:cNvPr id="20" name="Text 16"/>
          <p:cNvSpPr txBox="1"/>
          <p:nvPr/>
        </p:nvSpPr>
        <p:spPr>
          <a:xfrm>
            <a:off x="6217920" y="4983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сборов, где дошли 2+ участника</a:t>
            </a:r>
            <a:endParaRPr lang="en-US" sz="1400" dirty="0"/>
          </a:p>
        </p:txBody>
      </p:sp>
      <p:sp>
        <p:nvSpPr>
          <p:cNvPr id="21" name="metric 4"/>
          <p:cNvSpPr/>
          <p:nvPr/>
        </p:nvSpPr>
        <p:spPr>
          <a:xfrm>
            <a:off x="8732520" y="3977640"/>
            <a:ext cx="246888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8915400" y="4160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chemeClr val="accent5"/>
                </a:solidFill>
              </a:rPr>
              <a:t>≤ 4%</a:t>
            </a:r>
            <a:endParaRPr lang="en-US" sz="3400" dirty="0"/>
          </a:p>
        </p:txBody>
      </p:sp>
      <p:sp>
        <p:nvSpPr>
          <p:cNvPr id="23" name="Text 19"/>
          <p:cNvSpPr txBox="1"/>
          <p:nvPr/>
        </p:nvSpPr>
        <p:spPr>
          <a:xfrm>
            <a:off x="8915400" y="4983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батареи в сутки в фоне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1984248" y="502920"/>
            <a:ext cx="8229600" cy="868680"/>
          </a:xfrm>
          <a:prstGeom prst="roundRect">
            <a:avLst>
              <a:gd name="adj" fmla="val 31579"/>
            </a:avLst>
          </a:prstGeom>
          <a:solidFill>
            <a:schemeClr val="accent4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3. Канбан: что уже сделано</a:t>
            </a:r>
            <a:endParaRPr lang="en-US" sz="2600" dirty="0"/>
          </a:p>
        </p:txBody>
      </p:sp>
      <p:pic>
        <p:nvPicPr>
          <p:cNvPr id="4" name="heart" descr="/tmp/claude-0/-home-user-blinkcode/50a1a0f2-4521-56d8-9cf3-0003dcee5d0b/scratchpad/build/refasset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20000">
            <a:off x="10744200" y="137160"/>
            <a:ext cx="1188720" cy="1203306"/>
          </a:xfrm>
          <a:prstGeom prst="rect">
            <a:avLst/>
          </a:prstGeom>
        </p:spPr>
      </p:pic>
      <p:sp>
        <p:nvSpPr>
          <p:cNvPr id="5" name="kanban column 1"/>
          <p:cNvSpPr/>
          <p:nvPr/>
        </p:nvSpPr>
        <p:spPr>
          <a:xfrm>
            <a:off x="868680" y="1783080"/>
            <a:ext cx="3246120" cy="4526280"/>
          </a:xfrm>
          <a:prstGeom prst="roundRect">
            <a:avLst>
              <a:gd name="adj" fmla="val 6197"/>
            </a:avLst>
          </a:prstGeom>
          <a:solidFill>
            <a:schemeClr val="bg1">
              <a:alpha val="65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6" name="column 1"/>
          <p:cNvSpPr/>
          <p:nvPr/>
        </p:nvSpPr>
        <p:spPr>
          <a:xfrm>
            <a:off x="1097280" y="2011680"/>
            <a:ext cx="2788920" cy="530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column 1 text"/>
          <p:cNvSpPr txBox="1"/>
          <p:nvPr/>
        </p:nvSpPr>
        <p:spPr>
          <a:xfrm>
            <a:off x="1097280" y="2011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Сделано · 6</a:t>
            </a:r>
            <a:endParaRPr lang="en-US" sz="1700" dirty="0"/>
          </a:p>
        </p:txBody>
      </p:sp>
      <p:sp>
        <p:nvSpPr>
          <p:cNvPr id="8" name="task 1.1"/>
          <p:cNvSpPr/>
          <p:nvPr/>
        </p:nvSpPr>
        <p:spPr>
          <a:xfrm>
            <a:off x="1097280" y="2724912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34440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✓  Видение продукта</a:t>
            </a:r>
            <a:endParaRPr lang="en-US" sz="1400" dirty="0"/>
          </a:p>
        </p:txBody>
      </p:sp>
      <p:sp>
        <p:nvSpPr>
          <p:cNvPr id="10" name="task 1.2"/>
          <p:cNvSpPr/>
          <p:nvPr/>
        </p:nvSpPr>
        <p:spPr>
          <a:xfrm>
            <a:off x="1097280" y="3291840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✓  Спецификации 9 фич</a:t>
            </a:r>
            <a:endParaRPr lang="en-US" sz="1400" dirty="0"/>
          </a:p>
        </p:txBody>
      </p:sp>
      <p:sp>
        <p:nvSpPr>
          <p:cNvPr id="12" name="task 1.3"/>
          <p:cNvSpPr/>
          <p:nvPr/>
        </p:nvSpPr>
        <p:spPr>
          <a:xfrm>
            <a:off x="1097280" y="3858768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34440" y="3858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✓  Роадмап и RICE</a:t>
            </a:r>
            <a:endParaRPr lang="en-US" sz="1400" dirty="0"/>
          </a:p>
        </p:txBody>
      </p:sp>
      <p:sp>
        <p:nvSpPr>
          <p:cNvPr id="14" name="task 1.4"/>
          <p:cNvSpPr/>
          <p:nvPr/>
        </p:nvSpPr>
        <p:spPr>
          <a:xfrm>
            <a:off x="1097280" y="4425696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34440" y="44256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✓  Бэклог: эпики и задачи</a:t>
            </a:r>
            <a:endParaRPr lang="en-US" sz="1400" dirty="0"/>
          </a:p>
        </p:txBody>
      </p:sp>
      <p:sp>
        <p:nvSpPr>
          <p:cNvPr id="16" name="task 1.5"/>
          <p:cNvSpPr/>
          <p:nvPr/>
        </p:nvSpPr>
        <p:spPr>
          <a:xfrm>
            <a:off x="1097280" y="4992624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34440" y="4992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✓  Архитектура и стек</a:t>
            </a:r>
            <a:endParaRPr lang="en-US" sz="1400" dirty="0"/>
          </a:p>
        </p:txBody>
      </p:sp>
      <p:sp>
        <p:nvSpPr>
          <p:cNvPr id="18" name="task 1.6"/>
          <p:cNvSpPr/>
          <p:nvPr/>
        </p:nvSpPr>
        <p:spPr>
          <a:xfrm>
            <a:off x="1097280" y="5559552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55595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✓  Приватность и риски</a:t>
            </a:r>
            <a:endParaRPr lang="en-US" sz="1400" dirty="0"/>
          </a:p>
        </p:txBody>
      </p:sp>
      <p:sp>
        <p:nvSpPr>
          <p:cNvPr id="20" name="kanban column 2"/>
          <p:cNvSpPr/>
          <p:nvPr/>
        </p:nvSpPr>
        <p:spPr>
          <a:xfrm>
            <a:off x="4453128" y="1783080"/>
            <a:ext cx="3246120" cy="4526280"/>
          </a:xfrm>
          <a:prstGeom prst="roundRect">
            <a:avLst>
              <a:gd name="adj" fmla="val 6197"/>
            </a:avLst>
          </a:prstGeom>
          <a:solidFill>
            <a:schemeClr val="bg1">
              <a:alpha val="65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21" name="column 2"/>
          <p:cNvSpPr/>
          <p:nvPr/>
        </p:nvSpPr>
        <p:spPr>
          <a:xfrm>
            <a:off x="4681728" y="2011680"/>
            <a:ext cx="2788920" cy="53035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column 2 text"/>
          <p:cNvSpPr txBox="1"/>
          <p:nvPr/>
        </p:nvSpPr>
        <p:spPr>
          <a:xfrm>
            <a:off x="4681728" y="2011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Следующий шаг · 4</a:t>
            </a:r>
            <a:endParaRPr lang="en-US" sz="1700" dirty="0"/>
          </a:p>
        </p:txBody>
      </p:sp>
      <p:sp>
        <p:nvSpPr>
          <p:cNvPr id="23" name="task 2.1"/>
          <p:cNvSpPr/>
          <p:nvPr/>
        </p:nvSpPr>
        <p:spPr>
          <a:xfrm>
            <a:off x="4681728" y="2724912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18888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10–15 интервью с аудиторией</a:t>
            </a:r>
            <a:endParaRPr lang="en-US" sz="1400" dirty="0"/>
          </a:p>
        </p:txBody>
      </p:sp>
      <p:sp>
        <p:nvSpPr>
          <p:cNvPr id="25" name="task 2.2"/>
          <p:cNvSpPr/>
          <p:nvPr/>
        </p:nvSpPr>
        <p:spPr>
          <a:xfrm>
            <a:off x="4681728" y="3291840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18888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Решить открытые вопросы</a:t>
            </a:r>
            <a:endParaRPr lang="en-US" sz="1400" dirty="0"/>
          </a:p>
        </p:txBody>
      </p:sp>
      <p:sp>
        <p:nvSpPr>
          <p:cNvPr id="27" name="task 2.3"/>
          <p:cNvSpPr/>
          <p:nvPr/>
        </p:nvSpPr>
        <p:spPr>
          <a:xfrm>
            <a:off x="4681728" y="3858768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18888" y="3858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Спайк фоновой геолокации</a:t>
            </a:r>
            <a:endParaRPr lang="en-US" sz="1400" dirty="0"/>
          </a:p>
        </p:txBody>
      </p:sp>
      <p:sp>
        <p:nvSpPr>
          <p:cNvPr id="29" name="task 2.4"/>
          <p:cNvSpPr/>
          <p:nvPr/>
        </p:nvSpPr>
        <p:spPr>
          <a:xfrm>
            <a:off x="4681728" y="4425696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18888" y="44256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Кликабельный прототип</a:t>
            </a:r>
            <a:endParaRPr lang="en-US" sz="1400" dirty="0"/>
          </a:p>
        </p:txBody>
      </p:sp>
      <p:sp>
        <p:nvSpPr>
          <p:cNvPr id="31" name="kanban column 3"/>
          <p:cNvSpPr/>
          <p:nvPr/>
        </p:nvSpPr>
        <p:spPr>
          <a:xfrm>
            <a:off x="8037576" y="1783080"/>
            <a:ext cx="3246120" cy="4526280"/>
          </a:xfrm>
          <a:prstGeom prst="roundRect">
            <a:avLst>
              <a:gd name="adj" fmla="val 6197"/>
            </a:avLst>
          </a:prstGeom>
          <a:solidFill>
            <a:schemeClr val="bg1">
              <a:alpha val="65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32" name="column 3"/>
          <p:cNvSpPr/>
          <p:nvPr/>
        </p:nvSpPr>
        <p:spPr>
          <a:xfrm>
            <a:off x="8266176" y="2011680"/>
            <a:ext cx="2788920" cy="5303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column 3 text"/>
          <p:cNvSpPr txBox="1"/>
          <p:nvPr/>
        </p:nvSpPr>
        <p:spPr>
          <a:xfrm>
            <a:off x="8266176" y="2011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Бэклог · 4</a:t>
            </a:r>
            <a:endParaRPr lang="en-US" sz="1700" dirty="0"/>
          </a:p>
        </p:txBody>
      </p:sp>
      <p:sp>
        <p:nvSpPr>
          <p:cNvPr id="34" name="task 3.1"/>
          <p:cNvSpPr/>
          <p:nvPr/>
        </p:nvSpPr>
        <p:spPr>
          <a:xfrm>
            <a:off x="8266176" y="2724912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03336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Фундамент: друзья, карта, чат</a:t>
            </a:r>
            <a:endParaRPr lang="en-US" sz="1400" dirty="0"/>
          </a:p>
        </p:txBody>
      </p:sp>
      <p:sp>
        <p:nvSpPr>
          <p:cNvPr id="36" name="task 3.2"/>
          <p:cNvSpPr/>
          <p:nvPr/>
        </p:nvSpPr>
        <p:spPr>
          <a:xfrm>
            <a:off x="8266176" y="3291840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403336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MVP-фичи 1, 2, 7, 9</a:t>
            </a:r>
            <a:endParaRPr lang="en-US" sz="1400" dirty="0"/>
          </a:p>
        </p:txBody>
      </p:sp>
      <p:sp>
        <p:nvSpPr>
          <p:cNvPr id="38" name="task 3.3"/>
          <p:cNvSpPr/>
          <p:nvPr/>
        </p:nvSpPr>
        <p:spPr>
          <a:xfrm>
            <a:off x="8266176" y="3858768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403336" y="3858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Закрытая бета</a:t>
            </a:r>
            <a:endParaRPr lang="en-US" sz="1400" dirty="0"/>
          </a:p>
        </p:txBody>
      </p:sp>
      <p:sp>
        <p:nvSpPr>
          <p:cNvPr id="40" name="task 3.4"/>
          <p:cNvSpPr/>
          <p:nvPr/>
        </p:nvSpPr>
        <p:spPr>
          <a:xfrm>
            <a:off x="8266176" y="4425696"/>
            <a:ext cx="278892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03336" y="44256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Релизы v1.1 и v1.2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1984248" y="502920"/>
            <a:ext cx="8229600" cy="868680"/>
          </a:xfrm>
          <a:prstGeom prst="roundRect">
            <a:avLst>
              <a:gd name="adj" fmla="val 31579"/>
            </a:avLst>
          </a:prstGeom>
          <a:solidFill>
            <a:schemeClr val="accent4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4. Девять месяцев от идеи до v1.2</a:t>
            </a:r>
            <a:endParaRPr lang="en-US" sz="2600" dirty="0"/>
          </a:p>
        </p:txBody>
      </p:sp>
      <p:pic>
        <p:nvPicPr>
          <p:cNvPr id="4" name="arrow" descr="/tmp/claude-0/-home-user-blinkcode/50a1a0f2-4521-56d8-9cf3-0003dcee5d0b/scratchpad/build/refassets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411480"/>
            <a:ext cx="1463040" cy="913920"/>
          </a:xfrm>
          <a:prstGeom prst="rect">
            <a:avLst/>
          </a:prstGeom>
        </p:spPr>
      </p:pic>
      <p:pic>
        <p:nvPicPr>
          <p:cNvPr id="5" name="spiral" descr="/tmp/claude-0/-home-user-blinkcode/50a1a0f2-4521-56d8-9cf3-0003dcee5d0b/scratchpad/build/refasset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097280" cy="1032160"/>
          </a:xfrm>
          <a:prstGeom prst="rect">
            <a:avLst/>
          </a:prstGeom>
        </p:spPr>
      </p:pic>
      <p:sp>
        <p:nvSpPr>
          <p:cNvPr id="6" name="roadmap card"/>
          <p:cNvSpPr/>
          <p:nvPr/>
        </p:nvSpPr>
        <p:spPr>
          <a:xfrm>
            <a:off x="868680" y="1783080"/>
            <a:ext cx="10451592" cy="4069080"/>
          </a:xfrm>
          <a:prstGeom prst="roundRect">
            <a:avLst>
              <a:gd name="adj" fmla="val 4944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3703320" y="2057400"/>
            <a:ext cx="80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11040" y="2057400"/>
            <a:ext cx="80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11040" y="2423160"/>
            <a:ext cx="0" cy="2926080"/>
          </a:xfrm>
          <a:prstGeom prst="line">
            <a:avLst/>
          </a:prstGeom>
          <a:noFill/>
          <a:ln w="9525">
            <a:solidFill>
              <a:srgbClr val="D9CCF2"/>
            </a:solidFill>
            <a:prstDash val="dash"/>
          </a:ln>
        </p:spPr>
      </p:sp>
      <p:sp>
        <p:nvSpPr>
          <p:cNvPr id="10" name="Text 6"/>
          <p:cNvSpPr txBox="1"/>
          <p:nvPr/>
        </p:nvSpPr>
        <p:spPr>
          <a:xfrm>
            <a:off x="5318760" y="2057400"/>
            <a:ext cx="80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318760" y="2423160"/>
            <a:ext cx="0" cy="2926080"/>
          </a:xfrm>
          <a:prstGeom prst="line">
            <a:avLst/>
          </a:prstGeom>
          <a:noFill/>
          <a:ln w="9525">
            <a:solidFill>
              <a:srgbClr val="D9CCF2"/>
            </a:solidFill>
            <a:prstDash val="dash"/>
          </a:ln>
        </p:spPr>
      </p:sp>
      <p:sp>
        <p:nvSpPr>
          <p:cNvPr id="12" name="Text 8"/>
          <p:cNvSpPr txBox="1"/>
          <p:nvPr/>
        </p:nvSpPr>
        <p:spPr>
          <a:xfrm>
            <a:off x="6126480" y="2057400"/>
            <a:ext cx="80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2423160"/>
            <a:ext cx="0" cy="2926080"/>
          </a:xfrm>
          <a:prstGeom prst="line">
            <a:avLst/>
          </a:prstGeom>
          <a:noFill/>
          <a:ln w="9525">
            <a:solidFill>
              <a:srgbClr val="D9CCF2"/>
            </a:solidFill>
            <a:prstDash val="dash"/>
          </a:ln>
        </p:spPr>
      </p:sp>
      <p:sp>
        <p:nvSpPr>
          <p:cNvPr id="14" name="Text 10"/>
          <p:cNvSpPr txBox="1"/>
          <p:nvPr/>
        </p:nvSpPr>
        <p:spPr>
          <a:xfrm>
            <a:off x="6934200" y="2057400"/>
            <a:ext cx="80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934200" y="2423160"/>
            <a:ext cx="0" cy="2926080"/>
          </a:xfrm>
          <a:prstGeom prst="line">
            <a:avLst/>
          </a:prstGeom>
          <a:noFill/>
          <a:ln w="9525">
            <a:solidFill>
              <a:srgbClr val="D9CCF2"/>
            </a:solidFill>
            <a:prstDash val="dash"/>
          </a:ln>
        </p:spPr>
      </p:sp>
      <p:sp>
        <p:nvSpPr>
          <p:cNvPr id="16" name="Text 12"/>
          <p:cNvSpPr txBox="1"/>
          <p:nvPr/>
        </p:nvSpPr>
        <p:spPr>
          <a:xfrm>
            <a:off x="7741920" y="2057400"/>
            <a:ext cx="80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741920" y="2423160"/>
            <a:ext cx="0" cy="2926080"/>
          </a:xfrm>
          <a:prstGeom prst="line">
            <a:avLst/>
          </a:prstGeom>
          <a:noFill/>
          <a:ln w="9525">
            <a:solidFill>
              <a:srgbClr val="D9CCF2"/>
            </a:solidFill>
            <a:prstDash val="dash"/>
          </a:ln>
        </p:spPr>
      </p:sp>
      <p:sp>
        <p:nvSpPr>
          <p:cNvPr id="18" name="Text 14"/>
          <p:cNvSpPr txBox="1"/>
          <p:nvPr/>
        </p:nvSpPr>
        <p:spPr>
          <a:xfrm>
            <a:off x="8549640" y="2057400"/>
            <a:ext cx="80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7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549640" y="2423160"/>
            <a:ext cx="0" cy="2926080"/>
          </a:xfrm>
          <a:prstGeom prst="line">
            <a:avLst/>
          </a:prstGeom>
          <a:noFill/>
          <a:ln w="9525">
            <a:solidFill>
              <a:srgbClr val="D9CCF2"/>
            </a:solidFill>
            <a:prstDash val="dash"/>
          </a:ln>
        </p:spPr>
      </p:sp>
      <p:sp>
        <p:nvSpPr>
          <p:cNvPr id="20" name="Text 16"/>
          <p:cNvSpPr txBox="1"/>
          <p:nvPr/>
        </p:nvSpPr>
        <p:spPr>
          <a:xfrm>
            <a:off x="9357360" y="2057400"/>
            <a:ext cx="80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8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9357360" y="2423160"/>
            <a:ext cx="0" cy="2926080"/>
          </a:xfrm>
          <a:prstGeom prst="line">
            <a:avLst/>
          </a:prstGeom>
          <a:noFill/>
          <a:ln w="9525">
            <a:solidFill>
              <a:srgbClr val="D9CCF2"/>
            </a:solidFill>
            <a:prstDash val="dash"/>
          </a:ln>
        </p:spPr>
      </p:sp>
      <p:sp>
        <p:nvSpPr>
          <p:cNvPr id="22" name="Text 18"/>
          <p:cNvSpPr txBox="1"/>
          <p:nvPr/>
        </p:nvSpPr>
        <p:spPr>
          <a:xfrm>
            <a:off x="10165080" y="2057400"/>
            <a:ext cx="80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9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10165080" y="2423160"/>
            <a:ext cx="0" cy="2926080"/>
          </a:xfrm>
          <a:prstGeom prst="line">
            <a:avLst/>
          </a:prstGeom>
          <a:noFill/>
          <a:ln w="9525">
            <a:solidFill>
              <a:srgbClr val="D9CCF2"/>
            </a:solidFill>
            <a:prstDash val="dash"/>
          </a:ln>
        </p:spPr>
      </p:sp>
      <p:sp>
        <p:nvSpPr>
          <p:cNvPr id="24" name="Text 20"/>
          <p:cNvSpPr txBox="1"/>
          <p:nvPr/>
        </p:nvSpPr>
        <p:spPr>
          <a:xfrm>
            <a:off x="114300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месяц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143000" y="251460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Фаза 0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Discovery</a:t>
            </a:r>
            <a:endParaRPr lang="en-US" sz="1400" dirty="0"/>
          </a:p>
        </p:txBody>
      </p:sp>
      <p:sp>
        <p:nvSpPr>
          <p:cNvPr id="26" name="phase bar 0"/>
          <p:cNvSpPr/>
          <p:nvPr/>
        </p:nvSpPr>
        <p:spPr>
          <a:xfrm>
            <a:off x="3703320" y="2551176"/>
            <a:ext cx="80772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602480" y="25511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chemeClr val="tx1"/>
                </a:solidFill>
              </a:rPr>
              <a:t>интервью, прототип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1143000" y="308152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Фаза 1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Фундамент + MVP</a:t>
            </a:r>
            <a:endParaRPr lang="en-US" sz="1400" dirty="0"/>
          </a:p>
        </p:txBody>
      </p:sp>
      <p:sp>
        <p:nvSpPr>
          <p:cNvPr id="29" name="phase bar 1"/>
          <p:cNvSpPr/>
          <p:nvPr/>
        </p:nvSpPr>
        <p:spPr>
          <a:xfrm>
            <a:off x="4309110" y="3118104"/>
            <a:ext cx="24231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309110" y="31181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bg1"/>
                </a:solidFill>
              </a:rPr>
              <a:t>10–12 недель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1143000" y="364845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Фаза 2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Закрытая бета</a:t>
            </a:r>
            <a:endParaRPr lang="en-US" sz="1400" dirty="0"/>
          </a:p>
        </p:txBody>
      </p:sp>
      <p:sp>
        <p:nvSpPr>
          <p:cNvPr id="32" name="phase bar 2"/>
          <p:cNvSpPr/>
          <p:nvPr/>
        </p:nvSpPr>
        <p:spPr>
          <a:xfrm>
            <a:off x="6732270" y="3685032"/>
            <a:ext cx="80772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631430" y="36850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chemeClr val="tx1"/>
                </a:solidFill>
              </a:rPr>
              <a:t>200–500 человек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1143000" y="421538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Фаза 3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v1.1 «Город как игра»</a:t>
            </a:r>
            <a:endParaRPr lang="en-US" sz="1400" dirty="0"/>
          </a:p>
        </p:txBody>
      </p:sp>
      <p:sp>
        <p:nvSpPr>
          <p:cNvPr id="35" name="phase bar 3"/>
          <p:cNvSpPr/>
          <p:nvPr/>
        </p:nvSpPr>
        <p:spPr>
          <a:xfrm>
            <a:off x="7539990" y="4251960"/>
            <a:ext cx="141351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04494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chemeClr val="tx1"/>
                </a:solidFill>
              </a:rPr>
              <a:t>6–8 недель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1143000" y="478231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Фаза 4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v1.2 «Вместе»</a:t>
            </a:r>
            <a:endParaRPr lang="en-US" sz="1400" dirty="0"/>
          </a:p>
        </p:txBody>
      </p:sp>
      <p:sp>
        <p:nvSpPr>
          <p:cNvPr id="38" name="phase bar 4"/>
          <p:cNvSpPr/>
          <p:nvPr/>
        </p:nvSpPr>
        <p:spPr>
          <a:xfrm>
            <a:off x="8953500" y="4818888"/>
            <a:ext cx="201930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953500" y="4818888"/>
            <a:ext cx="201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bg1"/>
                </a:solidFill>
              </a:rPr>
              <a:t>8–10 недель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1143000" y="5394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Команда: 2 mobile, 2 backend, дизайнер, QA и PM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1984248" y="502920"/>
            <a:ext cx="8229600" cy="868680"/>
          </a:xfrm>
          <a:prstGeom prst="roundRect">
            <a:avLst>
              <a:gd name="adj" fmla="val 31579"/>
            </a:avLst>
          </a:prstGeom>
          <a:solidFill>
            <a:schemeClr val="accent4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RICE решает, что войдёт в MVP</a:t>
            </a:r>
            <a:endParaRPr lang="en-US" sz="2600" dirty="0"/>
          </a:p>
        </p:txBody>
      </p:sp>
      <p:pic>
        <p:nvPicPr>
          <p:cNvPr id="4" name="petals" descr="/tmp/claude-0/-home-user-blinkcode/50a1a0f2-4521-56d8-9cf3-0003dcee5d0b/scratchpad/build/refassets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91440"/>
            <a:ext cx="1463040" cy="1385784"/>
          </a:xfrm>
          <a:prstGeom prst="rect">
            <a:avLst/>
          </a:prstGeom>
        </p:spPr>
      </p:pic>
      <p:sp>
        <p:nvSpPr>
          <p:cNvPr id="5" name="rice card"/>
          <p:cNvSpPr/>
          <p:nvPr/>
        </p:nvSpPr>
        <p:spPr>
          <a:xfrm>
            <a:off x="868680" y="1783080"/>
            <a:ext cx="6949440" cy="4434840"/>
          </a:xfrm>
          <a:prstGeom prst="roundRect">
            <a:avLst>
              <a:gd name="adj" fmla="val 4536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1005840" y="1874520"/>
          <a:ext cx="66751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ice note card"/>
          <p:cNvSpPr/>
          <p:nvPr/>
        </p:nvSpPr>
        <p:spPr>
          <a:xfrm>
            <a:off x="8092440" y="1783080"/>
            <a:ext cx="3246120" cy="4434840"/>
          </a:xfrm>
          <a:prstGeom prst="roundRect">
            <a:avLst>
              <a:gd name="adj" fmla="val 6197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8" name="mvp pill"/>
          <p:cNvSpPr/>
          <p:nvPr/>
        </p:nvSpPr>
        <p:spPr>
          <a:xfrm>
            <a:off x="8366760" y="2057400"/>
            <a:ext cx="1463040" cy="51206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mvp pill text"/>
          <p:cNvSpPr txBox="1"/>
          <p:nvPr/>
        </p:nvSpPr>
        <p:spPr>
          <a:xfrm>
            <a:off x="8366760" y="20574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MVP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366760" y="27432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Дом / работа, Умные сборы, Маршрут до друга, SOS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366760" y="393192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SOS в MVP выше своего RICE сознательно: это доверие и сильный аргумент в маркетинге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1984248" y="502920"/>
            <a:ext cx="8229600" cy="868680"/>
          </a:xfrm>
          <a:prstGeom prst="roundRect">
            <a:avLst>
              <a:gd name="adj" fmla="val 31579"/>
            </a:avLst>
          </a:prstGeom>
          <a:solidFill>
            <a:schemeClr val="accent4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5. Чем blinkcode отличается от других</a:t>
            </a:r>
            <a:endParaRPr lang="en-US" sz="2600" dirty="0"/>
          </a:p>
        </p:txBody>
      </p:sp>
      <p:pic>
        <p:nvPicPr>
          <p:cNvPr id="4" name="petals" descr="/tmp/claude-0/-home-user-blinkcode/50a1a0f2-4521-56d8-9cf3-0003dcee5d0b/scratchpad/build/refassets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5720"/>
            <a:ext cx="1600200" cy="1515701"/>
          </a:xfrm>
          <a:prstGeom prst="rect">
            <a:avLst/>
          </a:prstGeom>
        </p:spPr>
      </p:pic>
      <p:pic>
        <p:nvPicPr>
          <p:cNvPr id="5" name="thumbs" descr="/tmp/claude-0/-home-user-blinkcode/50a1a0f2-4521-56d8-9cf3-0003dcee5d0b/scratchpad/build/refassets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0">
            <a:off x="45720" y="5486400"/>
            <a:ext cx="1143000" cy="1167581"/>
          </a:xfrm>
          <a:prstGeom prst="rect">
            <a:avLst/>
          </a:prstGeom>
        </p:spPr>
      </p:pic>
      <p:sp>
        <p:nvSpPr>
          <p:cNvPr id="6" name="difference 1"/>
          <p:cNvSpPr/>
          <p:nvPr/>
        </p:nvSpPr>
        <p:spPr>
          <a:xfrm>
            <a:off x="1325880" y="1783080"/>
            <a:ext cx="4663440" cy="2011680"/>
          </a:xfrm>
          <a:prstGeom prst="roundRect">
            <a:avLst>
              <a:gd name="adj" fmla="val 10000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7" name="number 1"/>
          <p:cNvSpPr/>
          <p:nvPr/>
        </p:nvSpPr>
        <p:spPr>
          <a:xfrm>
            <a:off x="1600200" y="205740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6002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2423160" y="20574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Фокус на встрече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28072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Live-маршрут, умные сборы и рация закрывают весь путь от «давай увидимся» до «я на месте».</a:t>
            </a:r>
            <a:endParaRPr lang="en-US" sz="1500" dirty="0"/>
          </a:p>
        </p:txBody>
      </p:sp>
      <p:sp>
        <p:nvSpPr>
          <p:cNvPr id="11" name="difference 2"/>
          <p:cNvSpPr/>
          <p:nvPr/>
        </p:nvSpPr>
        <p:spPr>
          <a:xfrm>
            <a:off x="6309360" y="1783080"/>
            <a:ext cx="4663440" cy="2011680"/>
          </a:xfrm>
          <a:prstGeom prst="roundRect">
            <a:avLst>
              <a:gd name="adj" fmla="val 10000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2" name="number 2"/>
          <p:cNvSpPr/>
          <p:nvPr/>
        </p:nvSpPr>
        <p:spPr>
          <a:xfrm>
            <a:off x="6583680" y="2057400"/>
            <a:ext cx="640080" cy="64008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20574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Город как игра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8072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Чекины, открытие районов и челленджи с друзьями дают повод открывать приложение каждый день.</a:t>
            </a:r>
            <a:endParaRPr lang="en-US" sz="1500" dirty="0"/>
          </a:p>
        </p:txBody>
      </p:sp>
      <p:sp>
        <p:nvSpPr>
          <p:cNvPr id="16" name="difference 3"/>
          <p:cNvSpPr/>
          <p:nvPr/>
        </p:nvSpPr>
        <p:spPr>
          <a:xfrm>
            <a:off x="1325880" y="4023360"/>
            <a:ext cx="4663440" cy="2011680"/>
          </a:xfrm>
          <a:prstGeom prst="roundRect">
            <a:avLst>
              <a:gd name="adj" fmla="val 10000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7" name="number 3"/>
          <p:cNvSpPr/>
          <p:nvPr/>
        </p:nvSpPr>
        <p:spPr>
          <a:xfrm>
            <a:off x="1600200" y="429768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6002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2423160" y="42976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SOS без звонка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1600200" y="504748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Трём контактам уходит ссылка на live-маршрут на 15 минут — открывается в любом браузере.</a:t>
            </a:r>
            <a:endParaRPr lang="en-US" sz="1500" dirty="0"/>
          </a:p>
        </p:txBody>
      </p:sp>
      <p:sp>
        <p:nvSpPr>
          <p:cNvPr id="21" name="difference 4"/>
          <p:cNvSpPr/>
          <p:nvPr/>
        </p:nvSpPr>
        <p:spPr>
          <a:xfrm>
            <a:off x="6309360" y="4023360"/>
            <a:ext cx="4663440" cy="2011680"/>
          </a:xfrm>
          <a:prstGeom prst="roundRect">
            <a:avLst>
              <a:gd name="adj" fmla="val 10000"/>
            </a:avLst>
          </a:prstGeom>
          <a:solidFill>
            <a:schemeClr val="bg1">
              <a:alpha val="88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22" name="number 4"/>
          <p:cNvSpPr/>
          <p:nvPr/>
        </p:nvSpPr>
        <p:spPr>
          <a:xfrm>
            <a:off x="6583680" y="4297680"/>
            <a:ext cx="640080" cy="64008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58368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7406640" y="42976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Приватность и батарея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6583680" y="504748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Точность видимости — для каждого друга отдельно. Расход батареи ≤ 4% в сутки.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ill"/>
          <p:cNvSpPr/>
          <p:nvPr/>
        </p:nvSpPr>
        <p:spPr>
          <a:xfrm>
            <a:off x="1984248" y="502920"/>
            <a:ext cx="8229600" cy="868680"/>
          </a:xfrm>
          <a:prstGeom prst="roundRect">
            <a:avLst>
              <a:gd name="adj" fmla="val 31579"/>
            </a:avLst>
          </a:prstGeom>
          <a:solidFill>
            <a:schemeClr val="accent4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075688" y="502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6. Главные риски и как их снять</a:t>
            </a:r>
            <a:endParaRPr lang="en-US" sz="2600" dirty="0"/>
          </a:p>
        </p:txBody>
      </p:sp>
      <p:pic>
        <p:nvPicPr>
          <p:cNvPr id="4" name="star" descr="/tmp/claude-0/-home-user-blinkcode/50a1a0f2-4521-56d8-9cf3-0003dcee5d0b/scratchpad/build/refassets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600000">
            <a:off x="10607040" y="5120640"/>
            <a:ext cx="1417320" cy="1379108"/>
          </a:xfrm>
          <a:prstGeom prst="rect">
            <a:avLst/>
          </a:prstGeom>
        </p:spPr>
      </p:pic>
      <p:pic>
        <p:nvPicPr>
          <p:cNvPr id="5" name="heart" descr="/tmp/claude-0/-home-user-blinkcode/50a1a0f2-4521-56d8-9cf3-0003dcee5d0b/scratchpad/build/refassets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097280" cy="1110744"/>
          </a:xfrm>
          <a:prstGeom prst="rect">
            <a:avLst/>
          </a:prstGeom>
        </p:spPr>
      </p:pic>
      <p:sp>
        <p:nvSpPr>
          <p:cNvPr id="6" name="risk 1"/>
          <p:cNvSpPr/>
          <p:nvPr/>
        </p:nvSpPr>
        <p:spPr>
          <a:xfrm>
            <a:off x="868680" y="1783080"/>
            <a:ext cx="9692640" cy="914400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7" name="risk tag 1"/>
          <p:cNvSpPr/>
          <p:nvPr/>
        </p:nvSpPr>
        <p:spPr>
          <a:xfrm>
            <a:off x="1005840" y="1938528"/>
            <a:ext cx="1325880" cy="6035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risk tag 1 text"/>
          <p:cNvSpPr txBox="1"/>
          <p:nvPr/>
        </p:nvSpPr>
        <p:spPr>
          <a:xfrm>
            <a:off x="1005840" y="1938528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Риск 1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2560320" y="1783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Холодный старт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715000" y="1783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Инвайты компаниями, бета группами по 5–10 друзей</a:t>
            </a:r>
            <a:endParaRPr lang="en-US" sz="1500" dirty="0"/>
          </a:p>
        </p:txBody>
      </p:sp>
      <p:sp>
        <p:nvSpPr>
          <p:cNvPr id="11" name="risk 2"/>
          <p:cNvSpPr/>
          <p:nvPr/>
        </p:nvSpPr>
        <p:spPr>
          <a:xfrm>
            <a:off x="868680" y="2862072"/>
            <a:ext cx="9692640" cy="914400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2" name="risk tag 2"/>
          <p:cNvSpPr/>
          <p:nvPr/>
        </p:nvSpPr>
        <p:spPr>
          <a:xfrm>
            <a:off x="1005840" y="3017520"/>
            <a:ext cx="1325880" cy="6035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risk tag 2 text"/>
          <p:cNvSpPr txBox="1"/>
          <p:nvPr/>
        </p:nvSpPr>
        <p:spPr>
          <a:xfrm>
            <a:off x="1005840" y="301752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Риск 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560320" y="28620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Батарея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715000" y="286207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Адаптивная частота геолокации, замер в каждой бете</a:t>
            </a:r>
            <a:endParaRPr lang="en-US" sz="1500" dirty="0"/>
          </a:p>
        </p:txBody>
      </p:sp>
      <p:sp>
        <p:nvSpPr>
          <p:cNvPr id="16" name="risk 3"/>
          <p:cNvSpPr/>
          <p:nvPr/>
        </p:nvSpPr>
        <p:spPr>
          <a:xfrm>
            <a:off x="868680" y="3941064"/>
            <a:ext cx="9692640" cy="914400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17" name="risk tag 3"/>
          <p:cNvSpPr/>
          <p:nvPr/>
        </p:nvSpPr>
        <p:spPr>
          <a:xfrm>
            <a:off x="1005840" y="4096512"/>
            <a:ext cx="1325880" cy="6035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risk tag 3 text"/>
          <p:cNvSpPr txBox="1"/>
          <p:nvPr/>
        </p:nvSpPr>
        <p:spPr>
          <a:xfrm>
            <a:off x="1005840" y="4096512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Риск 3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2560320" y="394106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Ограничения iOS / Android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715000" y="3941064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Ранние спайки, заявки на разрешения сторов заранее</a:t>
            </a:r>
            <a:endParaRPr lang="en-US" sz="1500" dirty="0"/>
          </a:p>
        </p:txBody>
      </p:sp>
      <p:sp>
        <p:nvSpPr>
          <p:cNvPr id="21" name="risk 4"/>
          <p:cNvSpPr/>
          <p:nvPr/>
        </p:nvSpPr>
        <p:spPr>
          <a:xfrm>
            <a:off x="868680" y="5020056"/>
            <a:ext cx="9692640" cy="914400"/>
          </a:xfrm>
          <a:prstGeom prst="roundRect">
            <a:avLst>
              <a:gd name="adj" fmla="val 50000"/>
            </a:avLst>
          </a:prstGeom>
          <a:solidFill>
            <a:schemeClr val="bg1">
              <a:alpha val="92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5B2A9E">
                <a:alpha val="18000"/>
              </a:srgbClr>
            </a:outerShdw>
          </a:effectLst>
        </p:spPr>
      </p:sp>
      <p:sp>
        <p:nvSpPr>
          <p:cNvPr id="22" name="risk tag 4"/>
          <p:cNvSpPr/>
          <p:nvPr/>
        </p:nvSpPr>
        <p:spPr>
          <a:xfrm>
            <a:off x="1005840" y="5175504"/>
            <a:ext cx="1325880" cy="6035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risk tag 4 text"/>
          <p:cNvSpPr txBox="1"/>
          <p:nvPr/>
        </p:nvSpPr>
        <p:spPr>
          <a:xfrm>
            <a:off x="1005840" y="517550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bg1"/>
                </a:solidFill>
              </a:rPr>
              <a:t>Риск 4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2560320" y="502005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Скоуп-крип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5715000" y="5020056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Жёсткий MVP, фичи 4 и 6 — только после метрик v1.1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wl" descr="/tmp/claude-0/-home-user-blinkcode/50a1a0f2-4521-56d8-9cf3-0003dcee5d0b/scratchpad/build/refasse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052560" y="0"/>
            <a:ext cx="2926080" cy="2405049"/>
          </a:xfrm>
          <a:prstGeom prst="rect">
            <a:avLst/>
          </a:prstGeom>
        </p:spPr>
      </p:pic>
      <p:pic>
        <p:nvPicPr>
          <p:cNvPr id="3" name="balloons" descr="/tmp/claude-0/-home-user-blinkcode/50a1a0f2-4521-56d8-9cf3-0003dcee5d0b/scratchpad/build/refassets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566160"/>
            <a:ext cx="2560320" cy="2880360"/>
          </a:xfrm>
          <a:prstGeom prst="rect">
            <a:avLst/>
          </a:prstGeom>
        </p:spPr>
      </p:pic>
      <p:pic>
        <p:nvPicPr>
          <p:cNvPr id="4" name="spiral" descr="/tmp/claude-0/-home-user-blinkcode/50a1a0f2-4521-56d8-9cf3-0003dcee5d0b/scratchpad/build/refassets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822960"/>
            <a:ext cx="1371600" cy="1290199"/>
          </a:xfrm>
          <a:prstGeom prst="rect">
            <a:avLst/>
          </a:prstGeom>
        </p:spPr>
      </p:pic>
      <p:pic>
        <p:nvPicPr>
          <p:cNvPr id="5" name="star" descr="/tmp/claude-0/-home-user-blinkcode/50a1a0f2-4521-56d8-9cf3-0003dcee5d0b/scratchpad/build/refassets/image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4754880"/>
            <a:ext cx="1554480" cy="151257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828800" y="1828800"/>
            <a:ext cx="8531352" cy="173736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38100" dir="5400000">
              <a:srgbClr val="6A2FD6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i="1" dirty="0">
                <a:solidFill>
                  <a:schemeClr val="bg1"/>
                </a:solidFill>
              </a:rPr>
              <a:t>Спасибо!</a:t>
            </a:r>
            <a:endParaRPr lang="en-US" sz="9600" dirty="0"/>
          </a:p>
        </p:txBody>
      </p:sp>
      <p:sp>
        <p:nvSpPr>
          <p:cNvPr id="7" name="closing pill"/>
          <p:cNvSpPr/>
          <p:nvPr/>
        </p:nvSpPr>
        <p:spPr>
          <a:xfrm>
            <a:off x="2670048" y="3886200"/>
            <a:ext cx="6858000" cy="685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closing pill text"/>
          <p:cNvSpPr txBox="1"/>
          <p:nvPr/>
        </p:nvSpPr>
        <p:spPr>
          <a:xfrm>
            <a:off x="2670048" y="38862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Встречаемся офлайн — без «ты где?»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inkcode Holo">
  <a:themeElements>
    <a:clrScheme name="blinkcode Holo">
      <a:dk1>
        <a:srgbClr val="2E1A4F"/>
      </a:dk1>
      <a:lt1>
        <a:srgbClr val="FFFFFF"/>
      </a:lt1>
      <a:dk2>
        <a:srgbClr val="6A2FD6"/>
      </a:dk2>
      <a:lt2>
        <a:srgbClr val="F3EEFF"/>
      </a:lt2>
      <a:accent1>
        <a:srgbClr val="B566FF"/>
      </a:accent1>
      <a:accent2>
        <a:srgbClr val="E3D346"/>
      </a:accent2>
      <a:accent3>
        <a:srgbClr val="5FB8C2"/>
      </a:accent3>
      <a:accent4>
        <a:srgbClr val="7A9AE0"/>
      </a:accent4>
      <a:accent5>
        <a:srgbClr val="F07F4F"/>
      </a:accent5>
      <a:accent6>
        <a:srgbClr val="BFC92E"/>
      </a:accent6>
      <a:hlink>
        <a:srgbClr val="6A2FD6"/>
      </a:hlink>
      <a:folHlink>
        <a:srgbClr val="9B4DFF"/>
      </a:folHlink>
    </a:clrScheme>
    <a:fontScheme name="blinkcode Hol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blinkcode — проектный менеджмент</dc:title>
  <dc:subject>PptxGenJS Presentation</dc:subject>
  <dc:creator>PptxGenJS</dc:creator>
  <cp:lastModifiedBy>PptxGenJS</cp:lastModifiedBy>
  <cp:revision>1</cp:revision>
  <dcterms:created xsi:type="dcterms:W3CDTF">2026-10-22T16:10:49Z</dcterms:created>
  <dcterms:modified xsi:type="dcterms:W3CDTF">2026-10-22T16:10:49Z</dcterms:modified>
</cp:coreProperties>
</file>